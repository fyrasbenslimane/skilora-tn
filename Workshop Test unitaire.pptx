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90" r:id="rId4"/>
    <p:sldId id="259" r:id="rId5"/>
    <p:sldId id="260" r:id="rId6"/>
    <p:sldId id="264" r:id="rId7"/>
    <p:sldId id="265" r:id="rId8"/>
    <p:sldId id="286" r:id="rId9"/>
    <p:sldId id="266" r:id="rId10"/>
    <p:sldId id="267" r:id="rId11"/>
    <p:sldId id="268" r:id="rId12"/>
    <p:sldId id="269" r:id="rId13"/>
    <p:sldId id="270" r:id="rId14"/>
    <p:sldId id="287" r:id="rId15"/>
    <p:sldId id="271" r:id="rId16"/>
    <p:sldId id="288" r:id="rId17"/>
    <p:sldId id="289" r:id="rId18"/>
    <p:sldId id="276" r:id="rId19"/>
    <p:sldId id="28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6" roundtripDataSignature="AMtx7mjIpYT/pZWN8nxQk9DRELbHe0E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7BD763-FD4B-FCDF-ECF6-A9995DF34325}" v="545" dt="2026-02-04T16:09:26.223"/>
    <p1510:client id="{77624F68-88C8-E717-47D6-C41CE4DA69A6}" v="687" dt="2026-02-03T19:53:18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14:43:31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9666 7188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14:43:31.0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12488 6659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8E25594-A819-3B4B-F999-6CC2E266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>
            <a:extLst>
              <a:ext uri="{FF2B5EF4-FFF2-40B4-BE49-F238E27FC236}">
                <a16:creationId xmlns:a16="http://schemas.microsoft.com/office/drawing/2014/main" id="{1490AB71-EE01-7B2F-6F54-10EC1A5F8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5:notes">
            <a:extLst>
              <a:ext uri="{FF2B5EF4-FFF2-40B4-BE49-F238E27FC236}">
                <a16:creationId xmlns:a16="http://schemas.microsoft.com/office/drawing/2014/main" id="{B427E92F-E260-35B4-EAF8-C8965BDBF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55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332ba299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6332ba299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332ba299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6332ba299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208dd4978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6208dd497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88204813-851E-85EE-973E-05096280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332ba2994_0_60:notes">
            <a:extLst>
              <a:ext uri="{FF2B5EF4-FFF2-40B4-BE49-F238E27FC236}">
                <a16:creationId xmlns:a16="http://schemas.microsoft.com/office/drawing/2014/main" id="{F9BA0473-F2D1-2C1E-B51B-ADDCEECAD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6332ba2994_0_60:notes">
            <a:extLst>
              <a:ext uri="{FF2B5EF4-FFF2-40B4-BE49-F238E27FC236}">
                <a16:creationId xmlns:a16="http://schemas.microsoft.com/office/drawing/2014/main" id="{1C64CC3E-9D1D-3056-0940-C7A079CD8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092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332ba2994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6332ba299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332ba2994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6332ba299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332ba2994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6332ba299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6332ba2994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g6332ba299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6332ba2994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6332ba299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6FB934B-B98B-8EB4-8E15-B6D799F3F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6332ba2994_0_86:notes">
            <a:extLst>
              <a:ext uri="{FF2B5EF4-FFF2-40B4-BE49-F238E27FC236}">
                <a16:creationId xmlns:a16="http://schemas.microsoft.com/office/drawing/2014/main" id="{8F80DA76-A8BB-32E4-316A-7090E41BB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6332ba2994_0_86:notes">
            <a:extLst>
              <a:ext uri="{FF2B5EF4-FFF2-40B4-BE49-F238E27FC236}">
                <a16:creationId xmlns:a16="http://schemas.microsoft.com/office/drawing/2014/main" id="{06BB177F-2E7D-8E29-9C24-7236FF653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0265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239777d1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6239777d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44C899DC-45E4-B52C-2836-D6A617EE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239777d14_0_0:notes">
            <a:extLst>
              <a:ext uri="{FF2B5EF4-FFF2-40B4-BE49-F238E27FC236}">
                <a16:creationId xmlns:a16="http://schemas.microsoft.com/office/drawing/2014/main" id="{B95228A8-50CB-6C80-6668-FD67339A2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6239777d14_0_0:notes">
            <a:extLst>
              <a:ext uri="{FF2B5EF4-FFF2-40B4-BE49-F238E27FC236}">
                <a16:creationId xmlns:a16="http://schemas.microsoft.com/office/drawing/2014/main" id="{37EC4AE7-D9C0-EDA4-27D7-FED22AC93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1821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D7EE391-5597-5EDB-2328-C7B365D1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239777d14_0_0:notes">
            <a:extLst>
              <a:ext uri="{FF2B5EF4-FFF2-40B4-BE49-F238E27FC236}">
                <a16:creationId xmlns:a16="http://schemas.microsoft.com/office/drawing/2014/main" id="{677D2E28-CC7E-A186-A5B3-3E22C283C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6239777d14_0_0:notes">
            <a:extLst>
              <a:ext uri="{FF2B5EF4-FFF2-40B4-BE49-F238E27FC236}">
                <a16:creationId xmlns:a16="http://schemas.microsoft.com/office/drawing/2014/main" id="{B577BA81-5475-5DAE-DECF-08F87604A7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4049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332ba2994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g6332ba299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-21250" y="3410824"/>
            <a:ext cx="12352556" cy="88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fr-FR" sz="3000" dirty="0"/>
              <a:t>  Workshop Test unitaire </a:t>
            </a:r>
            <a:endParaRPr lang="en-US"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580913" y="5201779"/>
            <a:ext cx="2938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ESPRIT - UP JAVA</a:t>
            </a:r>
            <a:endParaRPr sz="18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41264" y="5212349"/>
            <a:ext cx="330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Année universitaire 2019/2020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600200" y="2412538"/>
            <a:ext cx="883539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3000"/>
            </a:pPr>
            <a:r>
              <a:rPr lang="fr-FR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PIDEV</a:t>
            </a:r>
          </a:p>
          <a:p>
            <a:pPr algn="ctr">
              <a:buSzPts val="3000"/>
            </a:pPr>
            <a:r>
              <a:rPr lang="fr-FR" sz="3000" b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Sprint Java</a:t>
            </a:r>
            <a:endParaRPr lang="fr-FR" sz="3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1437463" y="685126"/>
            <a:ext cx="8229600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sz="3600" dirty="0">
                <a:ea typeface="Calibri"/>
                <a:sym typeface="Calibri"/>
              </a:rPr>
              <a:t>C’est quoi un test unitaire</a:t>
            </a:r>
            <a:r>
              <a:rPr lang="fr-FR" sz="3600" dirty="0">
                <a:sym typeface="Times New Roman"/>
              </a:rPr>
              <a:t> ?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37CE5A-3CC4-6E78-8A5D-C32DC0DDB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91" y="1741328"/>
            <a:ext cx="9777211" cy="49872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FE8ACAD-1170-5FF8-EC13-881301FB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75BC93F3-798D-B844-372B-6EBBAA9BA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/>
              <a:t>   </a:t>
            </a:r>
            <a:endParaRPr dirty="0"/>
          </a:p>
        </p:txBody>
      </p:sp>
      <p:sp>
        <p:nvSpPr>
          <p:cNvPr id="109" name="Google Shape;109;p5">
            <a:extLst>
              <a:ext uri="{FF2B5EF4-FFF2-40B4-BE49-F238E27FC236}">
                <a16:creationId xmlns:a16="http://schemas.microsoft.com/office/drawing/2014/main" id="{2241D156-3260-7BA9-690E-71CC500AC0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3" name="Google Shape;114;g6332ba2994_0_14">
            <a:extLst>
              <a:ext uri="{FF2B5EF4-FFF2-40B4-BE49-F238E27FC236}">
                <a16:creationId xmlns:a16="http://schemas.microsoft.com/office/drawing/2014/main" id="{92B06C04-7ED9-C995-41D5-3F954D23553E}"/>
              </a:ext>
            </a:extLst>
          </p:cNvPr>
          <p:cNvSpPr txBox="1">
            <a:spLocks/>
          </p:cNvSpPr>
          <p:nvPr/>
        </p:nvSpPr>
        <p:spPr>
          <a:xfrm>
            <a:off x="1145275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b="1" dirty="0"/>
              <a:t>Unit Test ?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174B8F-2018-8410-2019-D8972BA0D17A}"/>
                  </a:ext>
                </a:extLst>
              </p14:cNvPr>
              <p14:cNvContentPartPr/>
              <p14:nvPr/>
            </p14:nvContentPartPr>
            <p14:xfrm>
              <a:off x="4576762" y="4005262"/>
              <a:ext cx="14287" cy="14287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174B8F-2018-8410-2019-D8972BA0D1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2412" y="3290912"/>
                <a:ext cx="1428700" cy="1428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76E1B0-33B2-43C9-20E2-3D8E375DFBD1}"/>
                  </a:ext>
                </a:extLst>
              </p14:cNvPr>
              <p14:cNvContentPartPr/>
              <p14:nvPr/>
            </p14:nvContentPartPr>
            <p14:xfrm>
              <a:off x="5557837" y="4319587"/>
              <a:ext cx="14287" cy="14287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76E1B0-33B2-43C9-20E2-3D8E375DF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3487" y="3605237"/>
                <a:ext cx="1428700" cy="14287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E637699-F7E8-3B29-2517-75E459090635}"/>
              </a:ext>
            </a:extLst>
          </p:cNvPr>
          <p:cNvSpPr txBox="1"/>
          <p:nvPr/>
        </p:nvSpPr>
        <p:spPr>
          <a:xfrm>
            <a:off x="493400" y="1699909"/>
            <a:ext cx="10547812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latin typeface="Calibri"/>
                <a:ea typeface="Calibri"/>
                <a:cs typeface="Calibri"/>
              </a:rPr>
              <a:t>Un test unitaire</a:t>
            </a:r>
            <a:r>
              <a:rPr lang="fr-FR" sz="2400" dirty="0">
                <a:latin typeface="Calibri"/>
                <a:ea typeface="Calibri"/>
                <a:cs typeface="Calibri"/>
              </a:rPr>
              <a:t> est une technique de test logiciel qui consiste à vérifier le bon fonctionnement d’une unité de code de manière isolée.</a:t>
            </a:r>
          </a:p>
          <a:p>
            <a:pPr>
              <a:lnSpc>
                <a:spcPct val="150000"/>
              </a:lnSpc>
            </a:pPr>
            <a:endParaRPr lang="fr-F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400" b="1" dirty="0">
                <a:latin typeface="Calibri"/>
                <a:ea typeface="Calibri"/>
                <a:cs typeface="Calibri"/>
              </a:rPr>
              <a:t>Une unité</a:t>
            </a:r>
            <a:r>
              <a:rPr lang="fr-FR" sz="2400" dirty="0">
                <a:latin typeface="Calibri"/>
                <a:ea typeface="Calibri"/>
                <a:cs typeface="Calibri"/>
              </a:rPr>
              <a:t> peut être une méthode, une classe ou un composant simple.</a:t>
            </a:r>
            <a:endParaRPr lang="fr-FR" dirty="0">
              <a:ea typeface="Calibri"/>
            </a:endParaRPr>
          </a:p>
          <a:p>
            <a:pPr>
              <a:lnSpc>
                <a:spcPct val="150000"/>
              </a:lnSpc>
            </a:pPr>
            <a:endParaRPr lang="fr-FR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400" b="1" dirty="0">
                <a:latin typeface="Calibri"/>
                <a:ea typeface="Calibri"/>
                <a:cs typeface="Calibri"/>
              </a:rPr>
              <a:t>Les tests unitaires</a:t>
            </a:r>
            <a:r>
              <a:rPr lang="fr-FR" sz="2400" dirty="0">
                <a:latin typeface="Calibri"/>
                <a:ea typeface="Calibri"/>
                <a:cs typeface="Calibri"/>
              </a:rPr>
              <a:t> permettent de </a:t>
            </a:r>
            <a:r>
              <a:rPr lang="fr-FR" sz="2400" b="1" dirty="0">
                <a:latin typeface="Calibri"/>
                <a:ea typeface="Calibri"/>
                <a:cs typeface="Calibri"/>
              </a:rPr>
              <a:t>détecter</a:t>
            </a:r>
            <a:r>
              <a:rPr lang="fr-FR" sz="2400" dirty="0">
                <a:latin typeface="Calibri"/>
                <a:ea typeface="Calibri"/>
                <a:cs typeface="Calibri"/>
              </a:rPr>
              <a:t> rapidement les erreurs, de </a:t>
            </a:r>
            <a:r>
              <a:rPr lang="fr-FR" sz="2400" b="1" dirty="0">
                <a:latin typeface="Calibri"/>
                <a:ea typeface="Calibri"/>
                <a:cs typeface="Calibri"/>
              </a:rPr>
              <a:t>valider </a:t>
            </a:r>
            <a:r>
              <a:rPr lang="fr-FR" sz="2400" dirty="0">
                <a:latin typeface="Calibri"/>
                <a:ea typeface="Calibri"/>
                <a:cs typeface="Calibri"/>
              </a:rPr>
              <a:t>la logique métier et d’assurer la qualité du code tout au long du développement.</a:t>
            </a:r>
            <a:endParaRPr lang="fr-FR"/>
          </a:p>
          <a:p>
            <a:endParaRPr lang="fr-FR" sz="2200" dirty="0">
              <a:latin typeface="Calibri"/>
              <a:ea typeface="Calibri"/>
              <a:cs typeface="Calibri"/>
            </a:endParaRPr>
          </a:p>
          <a:p>
            <a:endParaRPr lang="fr-FR" sz="2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0133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332ba2994_0_14"/>
          <p:cNvSpPr txBox="1">
            <a:spLocks noGrp="1"/>
          </p:cNvSpPr>
          <p:nvPr>
            <p:ph type="title"/>
          </p:nvPr>
        </p:nvSpPr>
        <p:spPr>
          <a:xfrm>
            <a:off x="1179394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/>
              <a:t>Rôle et importance des tests unitaires  </a:t>
            </a:r>
            <a:endParaRPr lang="en-US" b="1" dirty="0"/>
          </a:p>
        </p:txBody>
      </p:sp>
      <p:sp>
        <p:nvSpPr>
          <p:cNvPr id="115" name="Google Shape;115;g6332ba2994_0_14"/>
          <p:cNvSpPr txBox="1">
            <a:spLocks noGrp="1"/>
          </p:cNvSpPr>
          <p:nvPr>
            <p:ph type="body" idx="1"/>
          </p:nvPr>
        </p:nvSpPr>
        <p:spPr>
          <a:xfrm>
            <a:off x="446950" y="2011475"/>
            <a:ext cx="11240700" cy="4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lnSpc>
                <a:spcPct val="150000"/>
              </a:lnSpc>
              <a:spcBef>
                <a:spcPts val="700"/>
              </a:spcBef>
              <a:buNone/>
            </a:pPr>
            <a:r>
              <a:rPr lang="fr-FR" sz="2400" dirty="0">
                <a:sym typeface="Times New Roman"/>
              </a:rPr>
              <a:t>Les tests unitaires jouent un rôle fondamental dans le développement logiciel :</a:t>
            </a:r>
          </a:p>
          <a:p>
            <a:pPr algn="just">
              <a:lnSpc>
                <a:spcPct val="150000"/>
              </a:lnSpc>
              <a:spcBef>
                <a:spcPts val="700"/>
              </a:spcBef>
              <a:buFont typeface="Wingdings"/>
              <a:buChar char="Ø"/>
            </a:pPr>
            <a:r>
              <a:rPr lang="fr-FR" sz="2400" b="1" dirty="0"/>
              <a:t>Détecter les erreurs très tôt</a:t>
            </a:r>
          </a:p>
          <a:p>
            <a:pPr algn="just">
              <a:lnSpc>
                <a:spcPct val="150000"/>
              </a:lnSpc>
              <a:spcBef>
                <a:spcPts val="700"/>
              </a:spcBef>
              <a:buFont typeface="Wingdings"/>
              <a:buChar char="Ø"/>
            </a:pPr>
            <a:r>
              <a:rPr lang="fr-FR" sz="2400" b="1" dirty="0"/>
              <a:t>Garantir la qualité du code</a:t>
            </a:r>
          </a:p>
          <a:p>
            <a:pPr algn="just">
              <a:lnSpc>
                <a:spcPct val="150000"/>
              </a:lnSpc>
              <a:spcBef>
                <a:spcPts val="700"/>
              </a:spcBef>
              <a:buFont typeface="Wingdings"/>
              <a:buChar char="Ø"/>
            </a:pPr>
            <a:r>
              <a:rPr lang="fr-FR" sz="2400" b="1" dirty="0"/>
              <a:t>Réduire le coût de correction des bugs</a:t>
            </a:r>
          </a:p>
          <a:p>
            <a:pPr algn="just">
              <a:lnSpc>
                <a:spcPct val="150000"/>
              </a:lnSpc>
              <a:spcBef>
                <a:spcPts val="700"/>
              </a:spcBef>
              <a:buFont typeface="Wingdings"/>
              <a:buChar char="Ø"/>
            </a:pPr>
            <a:endParaRPr lang="fr-FR" sz="2400" dirty="0"/>
          </a:p>
          <a:p>
            <a:pPr marL="114300" indent="0" algn="just">
              <a:lnSpc>
                <a:spcPct val="150000"/>
              </a:lnSpc>
              <a:spcBef>
                <a:spcPts val="700"/>
              </a:spcBef>
              <a:buNone/>
            </a:pPr>
            <a:r>
              <a:rPr lang="fr-FR" b="1" dirty="0">
                <a:solidFill>
                  <a:srgbClr val="FF0000"/>
                </a:solidFill>
              </a:rPr>
              <a:t>Un code bien testé est plus robuste, fiable et évolutif.</a:t>
            </a:r>
          </a:p>
        </p:txBody>
      </p:sp>
      <p:sp>
        <p:nvSpPr>
          <p:cNvPr id="116" name="Google Shape;116;g6332ba2994_0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332ba2994_0_3"/>
          <p:cNvSpPr txBox="1">
            <a:spLocks noGrp="1"/>
          </p:cNvSpPr>
          <p:nvPr>
            <p:ph type="title"/>
          </p:nvPr>
        </p:nvSpPr>
        <p:spPr>
          <a:xfrm>
            <a:off x="1179394" y="3423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Étapes pour réussir un test unitaire </a:t>
            </a:r>
            <a:endParaRPr lang="en-US" b="1" dirty="0"/>
          </a:p>
        </p:txBody>
      </p:sp>
      <p:sp>
        <p:nvSpPr>
          <p:cNvPr id="122" name="Google Shape;122;g6332ba2994_0_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23" name="Google Shape;123;g6332ba2994_0_3"/>
          <p:cNvSpPr txBox="1"/>
          <p:nvPr/>
        </p:nvSpPr>
        <p:spPr>
          <a:xfrm>
            <a:off x="838200" y="2399371"/>
            <a:ext cx="10515600" cy="4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01650" indent="-457200">
              <a:lnSpc>
                <a:spcPct val="115000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Times New Roman"/>
              </a:rPr>
              <a:t>Identifier l’unité à tester</a:t>
            </a:r>
            <a:endParaRPr lang="en-US" dirty="0"/>
          </a:p>
          <a:p>
            <a:pPr marL="387350" indent="-342900">
              <a:lnSpc>
                <a:spcPct val="114999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Définir le comportement attendu</a:t>
            </a:r>
          </a:p>
          <a:p>
            <a:pPr marL="387350" indent="-342900">
              <a:lnSpc>
                <a:spcPct val="114999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Préparer les données d’entrée</a:t>
            </a:r>
          </a:p>
          <a:p>
            <a:pPr marL="387350" indent="-342900">
              <a:lnSpc>
                <a:spcPct val="114999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Exécuter l’unité de code</a:t>
            </a:r>
          </a:p>
          <a:p>
            <a:pPr marL="387350" indent="-342900">
              <a:lnSpc>
                <a:spcPct val="114999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Comparer le résultat obtenu avec le résultat attendu</a:t>
            </a:r>
          </a:p>
          <a:p>
            <a:pPr marL="387350" indent="-342900">
              <a:lnSpc>
                <a:spcPct val="114999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Corriger le code si le test échoue</a:t>
            </a:r>
          </a:p>
          <a:p>
            <a:pPr marL="387350" indent="-342900">
              <a:lnSpc>
                <a:spcPct val="114999"/>
              </a:lnSpc>
              <a:spcBef>
                <a:spcPts val="700"/>
              </a:spcBef>
              <a:buClr>
                <a:schemeClr val="dk1"/>
              </a:buClr>
              <a:buSzPts val="2900"/>
              <a:buAutoNum type="arabicPeriod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Réexécuter les tests jusqu’à réussite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4E9D8-8CC0-C4AC-C13D-267DA5867AFB}"/>
              </a:ext>
            </a:extLst>
          </p:cNvPr>
          <p:cNvSpPr txBox="1"/>
          <p:nvPr/>
        </p:nvSpPr>
        <p:spPr>
          <a:xfrm>
            <a:off x="711242" y="1598648"/>
            <a:ext cx="10516744" cy="5890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14300" algn="just">
              <a:lnSpc>
                <a:spcPct val="150000"/>
              </a:lnSpc>
              <a:spcBef>
                <a:spcPts val="700"/>
              </a:spcBef>
              <a:buClr>
                <a:schemeClr val="dk1"/>
              </a:buClr>
              <a:buSzPts val="1800"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Voici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 étapes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essentielles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mettre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un test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unitaire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efficace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208dd4978_0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151" name="Google Shape;151;g6208dd4978_0_6"/>
          <p:cNvSpPr/>
          <p:nvPr/>
        </p:nvSpPr>
        <p:spPr>
          <a:xfrm>
            <a:off x="0" y="2565400"/>
            <a:ext cx="12192000" cy="20160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9"/>
              <a:buFont typeface="Arial"/>
              <a:buNone/>
            </a:pPr>
            <a:endParaRPr sz="3509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6208dd4978_0_6"/>
          <p:cNvSpPr txBox="1"/>
          <p:nvPr/>
        </p:nvSpPr>
        <p:spPr>
          <a:xfrm>
            <a:off x="123582" y="3155655"/>
            <a:ext cx="82296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Mise en place</a:t>
            </a:r>
            <a:br>
              <a:rPr lang="fr-FR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DDE00-AFDE-DD39-FB6A-9D93C435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83" y="2527110"/>
            <a:ext cx="5748267" cy="2042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929185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fr-FR" b="1" dirty="0"/>
              <a:t>  Outil utilisé : JUnit 5</a:t>
            </a:r>
            <a:endParaRPr lang="en-US" b="1"/>
          </a:p>
        </p:txBody>
      </p:sp>
      <p:sp>
        <p:nvSpPr>
          <p:cNvPr id="159" name="Google Shape;15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536569" y="1402978"/>
            <a:ext cx="10303200" cy="63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fr-FR" sz="2400" b="1" dirty="0">
                <a:solidFill>
                  <a:schemeClr val="dk1"/>
                </a:solidFill>
                <a:latin typeface="Calibri"/>
                <a:sym typeface="Times New Roman"/>
              </a:rPr>
              <a:t>Pourquoi JUnit ?</a:t>
            </a:r>
            <a:endParaRPr lang="en-US" sz="2400" b="1" dirty="0">
              <a:solidFill>
                <a:schemeClr val="dk1"/>
              </a:solidFill>
              <a:latin typeface="Calibri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C7082-97A3-B552-BAF9-B5E2457CB31B}"/>
              </a:ext>
            </a:extLst>
          </p:cNvPr>
          <p:cNvSpPr txBox="1"/>
          <p:nvPr/>
        </p:nvSpPr>
        <p:spPr>
          <a:xfrm>
            <a:off x="1007366" y="4014630"/>
            <a:ext cx="10346076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@Test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Indique que la méthode est un 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 unitaire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(Sans </a:t>
            </a:r>
            <a:r>
              <a:rPr lang="fr-FR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@Test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 la méthode n’est jamais exécutée par JUnit.)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@BeforeEach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Exécute une méthode 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avant chaque test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@AfterEach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Exécute une méthode 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après chaque test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 </a:t>
            </a:r>
            <a:endParaRPr lang="en-US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6D757-4105-BDD1-E567-8D4299DD07FB}"/>
              </a:ext>
            </a:extLst>
          </p:cNvPr>
          <p:cNvSpPr txBox="1"/>
          <p:nvPr/>
        </p:nvSpPr>
        <p:spPr>
          <a:xfrm>
            <a:off x="1008553" y="1890488"/>
            <a:ext cx="3089246" cy="16946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/>
              <a:buChar char="ü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standard Java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ü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simple à utiliser</a:t>
            </a:r>
            <a:endParaRPr lang="en-US" dirty="0" err="1">
              <a:solidFill>
                <a:schemeClr val="dk1"/>
              </a:solidFill>
              <a:ea typeface="Calibri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ü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intégré à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IntelliJ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9E6AA-D06C-5198-6B9F-047C00510422}"/>
              </a:ext>
            </a:extLst>
          </p:cNvPr>
          <p:cNvSpPr txBox="1"/>
          <p:nvPr/>
        </p:nvSpPr>
        <p:spPr>
          <a:xfrm>
            <a:off x="535432" y="3550072"/>
            <a:ext cx="44636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>
                <a:solidFill>
                  <a:schemeClr val="dk1"/>
                </a:solidFill>
                <a:latin typeface="Calibri"/>
              </a:rPr>
              <a:t>Annotations principales :</a:t>
            </a:r>
            <a:endParaRPr lang="en-US" sz="2400" b="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565390B7-E4A4-1565-D240-4851191A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332ba2994_0_60">
            <a:extLst>
              <a:ext uri="{FF2B5EF4-FFF2-40B4-BE49-F238E27FC236}">
                <a16:creationId xmlns:a16="http://schemas.microsoft.com/office/drawing/2014/main" id="{F78768F5-B418-F39D-FEE3-845D19A5F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8021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Dépendance JUnit dans le pom.xml</a:t>
            </a:r>
            <a:endParaRPr lang="en-US" b="1"/>
          </a:p>
        </p:txBody>
      </p:sp>
      <p:sp>
        <p:nvSpPr>
          <p:cNvPr id="174" name="Google Shape;174;g6332ba2994_0_60">
            <a:extLst>
              <a:ext uri="{FF2B5EF4-FFF2-40B4-BE49-F238E27FC236}">
                <a16:creationId xmlns:a16="http://schemas.microsoft.com/office/drawing/2014/main" id="{A9FEE705-C5FC-1403-6F92-CD9B23DCB7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527E5-A972-740C-DC23-8B2601B4A5C8}"/>
              </a:ext>
            </a:extLst>
          </p:cNvPr>
          <p:cNvSpPr txBox="1"/>
          <p:nvPr/>
        </p:nvSpPr>
        <p:spPr>
          <a:xfrm>
            <a:off x="1711967" y="2792907"/>
            <a:ext cx="6132044" cy="30777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80808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0033B3"/>
                </a:solidFill>
                <a:latin typeface="Consolas"/>
              </a:rPr>
              <a:t>dependency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solidFill>
                  <a:srgbClr val="080808"/>
                </a:solidFill>
                <a:latin typeface="Consolas"/>
              </a:rPr>
              <a:t>    &lt;</a:t>
            </a:r>
            <a:r>
              <a:rPr lang="en-US" sz="2000" err="1">
                <a:solidFill>
                  <a:srgbClr val="0033B3"/>
                </a:solidFill>
                <a:latin typeface="Consolas"/>
              </a:rPr>
              <a:t>groupId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r>
              <a:rPr lang="en-US" sz="2000" err="1">
                <a:solidFill>
                  <a:srgbClr val="080808"/>
                </a:solidFill>
                <a:latin typeface="Consolas"/>
              </a:rPr>
              <a:t>org.junit.jupiter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&lt;/</a:t>
            </a:r>
            <a:r>
              <a:rPr lang="en-US" sz="2000" err="1">
                <a:solidFill>
                  <a:srgbClr val="0033B3"/>
                </a:solidFill>
                <a:latin typeface="Consolas"/>
              </a:rPr>
              <a:t>groupId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solidFill>
                  <a:srgbClr val="080808"/>
                </a:solidFill>
                <a:latin typeface="Consolas"/>
              </a:rPr>
              <a:t>    &lt;</a:t>
            </a:r>
            <a:r>
              <a:rPr lang="en-US" sz="2000" err="1">
                <a:solidFill>
                  <a:srgbClr val="0033B3"/>
                </a:solidFill>
                <a:latin typeface="Consolas"/>
              </a:rPr>
              <a:t>artifactId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r>
              <a:rPr lang="en-US" sz="2000" err="1">
                <a:solidFill>
                  <a:srgbClr val="080808"/>
                </a:solidFill>
                <a:latin typeface="Consolas"/>
              </a:rPr>
              <a:t>junit-jupiter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&lt;/</a:t>
            </a:r>
            <a:r>
              <a:rPr lang="en-US" sz="2000" err="1">
                <a:solidFill>
                  <a:srgbClr val="0033B3"/>
                </a:solidFill>
                <a:latin typeface="Consolas"/>
              </a:rPr>
              <a:t>artifactId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solidFill>
                  <a:srgbClr val="080808"/>
                </a:solidFill>
                <a:latin typeface="Consolas"/>
              </a:rPr>
              <a:t>    &lt;</a:t>
            </a:r>
            <a:r>
              <a:rPr lang="en-US" sz="2000" dirty="0">
                <a:solidFill>
                  <a:srgbClr val="0033B3"/>
                </a:solidFill>
                <a:latin typeface="Consolas"/>
              </a:rPr>
              <a:t>version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&gt;5.10.1&lt;/</a:t>
            </a:r>
            <a:r>
              <a:rPr lang="en-US" sz="2000" dirty="0">
                <a:solidFill>
                  <a:srgbClr val="0033B3"/>
                </a:solidFill>
                <a:latin typeface="Consolas"/>
              </a:rPr>
              <a:t>version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solidFill>
                  <a:srgbClr val="080808"/>
                </a:solidFill>
                <a:latin typeface="Consolas"/>
              </a:rPr>
              <a:t>    &lt;</a:t>
            </a:r>
            <a:r>
              <a:rPr lang="en-US" sz="2000" dirty="0">
                <a:solidFill>
                  <a:srgbClr val="0033B3"/>
                </a:solidFill>
                <a:latin typeface="Consolas"/>
              </a:rPr>
              <a:t>scope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&gt;test&lt;/</a:t>
            </a:r>
            <a:r>
              <a:rPr lang="en-US" sz="2000" dirty="0">
                <a:solidFill>
                  <a:srgbClr val="0033B3"/>
                </a:solidFill>
                <a:latin typeface="Consolas"/>
              </a:rPr>
              <a:t>scope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solidFill>
                  <a:srgbClr val="080808"/>
                </a:solidFill>
                <a:latin typeface="Consolas"/>
              </a:rPr>
              <a:t>&lt;/</a:t>
            </a:r>
            <a:r>
              <a:rPr lang="en-US" sz="2000" dirty="0">
                <a:solidFill>
                  <a:srgbClr val="0033B3"/>
                </a:solidFill>
                <a:latin typeface="Consolas"/>
              </a:rPr>
              <a:t>dependency</a:t>
            </a:r>
            <a:r>
              <a:rPr lang="en-US" sz="2000" dirty="0">
                <a:solidFill>
                  <a:srgbClr val="080808"/>
                </a:solidFill>
                <a:latin typeface="Consolas"/>
              </a:rPr>
              <a:t>&gt;</a:t>
            </a:r>
            <a:endParaRPr lang="en-US" sz="2000" dirty="0"/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8F637-6EF2-567C-F084-DAF6AC115746}"/>
              </a:ext>
            </a:extLst>
          </p:cNvPr>
          <p:cNvSpPr txBox="1"/>
          <p:nvPr/>
        </p:nvSpPr>
        <p:spPr>
          <a:xfrm>
            <a:off x="637277" y="1673776"/>
            <a:ext cx="972657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</a:rPr>
              <a:t>Dans </a:t>
            </a:r>
            <a:r>
              <a:rPr lang="en-US" sz="2400" err="1">
                <a:latin typeface="Calibri"/>
              </a:rPr>
              <a:t>cette</a:t>
            </a:r>
            <a:r>
              <a:rPr lang="en-US" sz="2400" dirty="0">
                <a:latin typeface="Calibri"/>
              </a:rPr>
              <a:t> étape, nous </a:t>
            </a:r>
            <a:r>
              <a:rPr lang="en-US" sz="2400" err="1">
                <a:latin typeface="Calibri"/>
              </a:rPr>
              <a:t>allons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ajouter</a:t>
            </a:r>
            <a:r>
              <a:rPr lang="en-US" sz="2400" dirty="0">
                <a:latin typeface="Calibri"/>
              </a:rPr>
              <a:t> la </a:t>
            </a:r>
            <a:r>
              <a:rPr lang="en-US" sz="2400" err="1">
                <a:latin typeface="Calibri"/>
              </a:rPr>
              <a:t>dépendance</a:t>
            </a:r>
            <a:r>
              <a:rPr lang="en-US" sz="2400" dirty="0">
                <a:latin typeface="Calibri"/>
              </a:rPr>
              <a:t> JUnit </a:t>
            </a:r>
            <a:r>
              <a:rPr lang="en-US" sz="2400" err="1">
                <a:latin typeface="Calibri"/>
              </a:rPr>
              <a:t>afin</a:t>
            </a:r>
            <a:r>
              <a:rPr lang="en-US" sz="2400" dirty="0">
                <a:latin typeface="Calibri"/>
              </a:rPr>
              <a:t> de </a:t>
            </a:r>
            <a:r>
              <a:rPr lang="en-US" sz="2400" err="1">
                <a:latin typeface="Calibri"/>
              </a:rPr>
              <a:t>pouvoir</a:t>
            </a:r>
            <a:r>
              <a:rPr lang="en-US" sz="2400" dirty="0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écrire</a:t>
            </a:r>
            <a:r>
              <a:rPr lang="en-US" sz="2400" b="1" dirty="0">
                <a:latin typeface="Calibri"/>
              </a:rPr>
              <a:t> et </a:t>
            </a:r>
            <a:r>
              <a:rPr lang="en-US" sz="2400" b="1" err="1">
                <a:latin typeface="Calibri"/>
              </a:rPr>
              <a:t>exécuter</a:t>
            </a:r>
            <a:r>
              <a:rPr lang="en-US" sz="2400" b="1" dirty="0">
                <a:latin typeface="Calibri"/>
              </a:rPr>
              <a:t> des tests </a:t>
            </a:r>
            <a:r>
              <a:rPr lang="en-US" sz="2400" b="1" err="1">
                <a:latin typeface="Calibri"/>
              </a:rPr>
              <a:t>unitaires</a:t>
            </a:r>
            <a:r>
              <a:rPr lang="en-US" sz="2400" b="1" dirty="0"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113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332ba2994_0_50"/>
          <p:cNvSpPr txBox="1">
            <a:spLocks noGrp="1"/>
          </p:cNvSpPr>
          <p:nvPr>
            <p:ph type="title"/>
          </p:nvPr>
        </p:nvSpPr>
        <p:spPr>
          <a:xfrm>
            <a:off x="883693" y="296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  Structure d’un projet Maven avec tests</a:t>
            </a:r>
            <a:endParaRPr lang="en-US" b="1"/>
          </a:p>
        </p:txBody>
      </p:sp>
      <p:sp>
        <p:nvSpPr>
          <p:cNvPr id="166" name="Google Shape;166;g6332ba2994_0_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9</a:t>
            </a:fld>
            <a:endParaRPr lang="fr-F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248DDD-F9FD-9581-99F7-331B924B3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13" y="1290718"/>
            <a:ext cx="5281208" cy="52452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9957ED-FFBD-A0E9-84C3-5106E7953339}"/>
              </a:ext>
            </a:extLst>
          </p:cNvPr>
          <p:cNvSpPr txBox="1"/>
          <p:nvPr/>
        </p:nvSpPr>
        <p:spPr>
          <a:xfrm>
            <a:off x="7130955" y="3156045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</a:rPr>
              <a:t>Code de </a:t>
            </a:r>
            <a:r>
              <a:rPr lang="en-US" sz="2400" dirty="0" err="1">
                <a:latin typeface="Calibri"/>
              </a:rPr>
              <a:t>l’application</a:t>
            </a:r>
            <a:endParaRPr lang="en-US" sz="2400" dirty="0">
              <a:latin typeface="Calibri"/>
            </a:endParaRP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EF917-CAE9-C93E-111B-0AC03C680204}"/>
              </a:ext>
            </a:extLst>
          </p:cNvPr>
          <p:cNvSpPr txBox="1"/>
          <p:nvPr/>
        </p:nvSpPr>
        <p:spPr>
          <a:xfrm>
            <a:off x="6948985" y="4259239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</a:rPr>
              <a:t>Tests </a:t>
            </a:r>
            <a:r>
              <a:rPr lang="en-US" sz="2400" dirty="0" err="1">
                <a:latin typeface="Calibri"/>
              </a:rPr>
              <a:t>unitaires</a:t>
            </a:r>
            <a:endParaRPr lang="en-US" sz="2400" dirty="0">
              <a:latin typeface="Calibri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1541D-EF0B-80F6-F2F0-B73D5920D305}"/>
              </a:ext>
            </a:extLst>
          </p:cNvPr>
          <p:cNvSpPr txBox="1"/>
          <p:nvPr/>
        </p:nvSpPr>
        <p:spPr>
          <a:xfrm>
            <a:off x="6138996" y="1457924"/>
            <a:ext cx="56819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</a:rPr>
              <a:t>Le code de test est </a:t>
            </a:r>
            <a:r>
              <a:rPr lang="en-US" sz="2400" err="1">
                <a:latin typeface="Calibri"/>
              </a:rPr>
              <a:t>séparé</a:t>
            </a:r>
            <a:r>
              <a:rPr lang="en-US" sz="2400" dirty="0">
                <a:latin typeface="Calibri"/>
              </a:rPr>
              <a:t> du code métier.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466ECC-5721-CB2E-1229-7DB4D9F64098}"/>
              </a:ext>
            </a:extLst>
          </p:cNvPr>
          <p:cNvSpPr/>
          <p:nvPr/>
        </p:nvSpPr>
        <p:spPr>
          <a:xfrm>
            <a:off x="6201191" y="3259890"/>
            <a:ext cx="750976" cy="341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02843B6-F3B8-3079-4CD0-812912153757}"/>
              </a:ext>
            </a:extLst>
          </p:cNvPr>
          <p:cNvSpPr/>
          <p:nvPr/>
        </p:nvSpPr>
        <p:spPr>
          <a:xfrm>
            <a:off x="6201190" y="4351710"/>
            <a:ext cx="750976" cy="34135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332ba2994_0_60"/>
          <p:cNvSpPr txBox="1">
            <a:spLocks noGrp="1"/>
          </p:cNvSpPr>
          <p:nvPr>
            <p:ph type="title"/>
          </p:nvPr>
        </p:nvSpPr>
        <p:spPr>
          <a:xfrm>
            <a:off x="1145274" y="34237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Classe de test : PersonneServicesTest.java</a:t>
            </a:r>
            <a:endParaRPr lang="en-US" b="1"/>
          </a:p>
        </p:txBody>
      </p:sp>
      <p:sp>
        <p:nvSpPr>
          <p:cNvPr id="174" name="Google Shape;174;g6332ba2994_0_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E69BC4-934A-1708-E246-61280FE9877C}"/>
              </a:ext>
            </a:extLst>
          </p:cNvPr>
          <p:cNvSpPr txBox="1"/>
          <p:nvPr/>
        </p:nvSpPr>
        <p:spPr>
          <a:xfrm>
            <a:off x="420805" y="1927745"/>
            <a:ext cx="11304894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ri"/>
              </a:rPr>
              <a:t>Objectif de </a:t>
            </a:r>
            <a:r>
              <a:rPr lang="en-US" sz="2400" b="1" err="1">
                <a:latin typeface="Calibri"/>
              </a:rPr>
              <a:t>cette</a:t>
            </a:r>
            <a:r>
              <a:rPr lang="en-US" sz="2400" b="1" dirty="0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classe</a:t>
            </a:r>
            <a:endParaRPr lang="en-US" sz="2400" b="1">
              <a:latin typeface="Calibri"/>
            </a:endParaRPr>
          </a:p>
          <a:p>
            <a:pPr lvl="1">
              <a:lnSpc>
                <a:spcPct val="150000"/>
              </a:lnSpc>
              <a:buFont typeface=""/>
              <a:buNone/>
            </a:pPr>
            <a:r>
              <a:rPr lang="en-US" sz="2400" err="1">
                <a:latin typeface="Calibri"/>
              </a:rPr>
              <a:t>Vérifier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automatiquement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que</a:t>
            </a:r>
            <a:r>
              <a:rPr lang="en-US" sz="2400" dirty="0">
                <a:latin typeface="Calibri"/>
              </a:rPr>
              <a:t> les </a:t>
            </a:r>
            <a:r>
              <a:rPr lang="en-US" sz="2400" err="1">
                <a:latin typeface="Calibri"/>
              </a:rPr>
              <a:t>méthodes</a:t>
            </a:r>
            <a:r>
              <a:rPr lang="en-US" sz="2400" dirty="0">
                <a:latin typeface="Calibri"/>
              </a:rPr>
              <a:t> CRUD </a:t>
            </a:r>
            <a:r>
              <a:rPr lang="en-US" sz="2400" err="1">
                <a:latin typeface="Calibri"/>
              </a:rPr>
              <a:t>fonctionnent</a:t>
            </a:r>
            <a:r>
              <a:rPr lang="en-US" sz="2400" dirty="0">
                <a:latin typeface="Calibri"/>
              </a:rPr>
              <a:t> sur la base de données MySQL.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ri"/>
              </a:rPr>
              <a:t>Nous </a:t>
            </a:r>
            <a:r>
              <a:rPr lang="en-US" sz="2400" b="1" dirty="0" err="1">
                <a:latin typeface="Calibri"/>
              </a:rPr>
              <a:t>allons</a:t>
            </a:r>
            <a:r>
              <a:rPr lang="en-US" sz="2400" b="1" dirty="0">
                <a:latin typeface="Calibri"/>
              </a:rPr>
              <a:t> tester 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ADFA3-B42C-1CDA-11D3-F090898B5537}"/>
              </a:ext>
            </a:extLst>
          </p:cNvPr>
          <p:cNvSpPr txBox="1"/>
          <p:nvPr/>
        </p:nvSpPr>
        <p:spPr>
          <a:xfrm>
            <a:off x="421045" y="1474755"/>
            <a:ext cx="105098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</a:rPr>
              <a:t>Cette </a:t>
            </a:r>
            <a:r>
              <a:rPr lang="en-US" sz="2400" err="1">
                <a:latin typeface="Calibri"/>
              </a:rPr>
              <a:t>classe</a:t>
            </a:r>
            <a:r>
              <a:rPr lang="en-US" sz="2400" dirty="0">
                <a:latin typeface="Calibri"/>
              </a:rPr>
              <a:t> se </a:t>
            </a:r>
            <a:r>
              <a:rPr lang="en-US" sz="2400" err="1">
                <a:latin typeface="Calibri"/>
              </a:rPr>
              <a:t>trouve</a:t>
            </a:r>
            <a:r>
              <a:rPr lang="en-US" sz="2400" dirty="0">
                <a:latin typeface="Calibri"/>
              </a:rPr>
              <a:t> dans :</a:t>
            </a:r>
            <a:r>
              <a:rPr lang="en-US" sz="2400" b="1" dirty="0">
                <a:latin typeface="Calibri"/>
              </a:rPr>
              <a:t> </a:t>
            </a:r>
            <a:r>
              <a:rPr lang="en-US" sz="2400" b="1" err="1">
                <a:latin typeface="Calibri"/>
              </a:rPr>
              <a:t>src</a:t>
            </a:r>
            <a:r>
              <a:rPr lang="en-US" sz="2400" b="1" dirty="0">
                <a:latin typeface="Calibri"/>
              </a:rPr>
              <a:t>/test/java/</a:t>
            </a:r>
            <a:r>
              <a:rPr lang="en-US" sz="2400" b="1" err="1">
                <a:latin typeface="Calibri"/>
              </a:rPr>
              <a:t>tn</a:t>
            </a:r>
            <a:r>
              <a:rPr lang="en-US" sz="2400" b="1" dirty="0">
                <a:latin typeface="Calibri"/>
              </a:rPr>
              <a:t>/esprit/services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FC559-E61A-9C3F-1152-96FB722AC1A3}"/>
              </a:ext>
            </a:extLst>
          </p:cNvPr>
          <p:cNvSpPr txBox="1"/>
          <p:nvPr/>
        </p:nvSpPr>
        <p:spPr>
          <a:xfrm>
            <a:off x="825117" y="4112908"/>
            <a:ext cx="3464734" cy="2248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buChar char="•"/>
            </a:pPr>
            <a:r>
              <a:rPr lang="en-US" sz="2400" err="1">
                <a:latin typeface="Calibri"/>
                <a:ea typeface="Calibri"/>
                <a:cs typeface="Calibri"/>
              </a:rPr>
              <a:t>ajouter</a:t>
            </a:r>
            <a:r>
              <a:rPr lang="en-US" sz="2400" dirty="0">
                <a:latin typeface="Calibri"/>
                <a:ea typeface="Calibri"/>
                <a:cs typeface="Calibri"/>
              </a:rPr>
              <a:t>(Personne)</a:t>
            </a:r>
            <a:endParaRPr lang="en-US"/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2400" err="1">
                <a:latin typeface="Calibri"/>
                <a:ea typeface="Calibri"/>
                <a:cs typeface="Calibri"/>
              </a:rPr>
              <a:t>afficher</a:t>
            </a:r>
            <a:r>
              <a:rPr lang="en-US" sz="2400" dirty="0">
                <a:latin typeface="Calibri"/>
                <a:ea typeface="Calibri"/>
                <a:cs typeface="Calibri"/>
              </a:rPr>
              <a:t>()</a:t>
            </a: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modifier(Personne)</a:t>
            </a:r>
          </a:p>
          <a:p>
            <a:pPr marL="228600" indent="-228600">
              <a:lnSpc>
                <a:spcPct val="150000"/>
              </a:lnSpc>
              <a:buChar char="•"/>
            </a:pPr>
            <a:r>
              <a:rPr lang="en-US" sz="2400" err="1">
                <a:latin typeface="Calibri"/>
                <a:ea typeface="Calibri"/>
                <a:cs typeface="Calibri"/>
              </a:rPr>
              <a:t>supprimer</a:t>
            </a:r>
            <a:r>
              <a:rPr lang="en-US" sz="2400" dirty="0">
                <a:latin typeface="Calibri"/>
                <a:ea typeface="Calibri"/>
                <a:cs typeface="Calibri"/>
              </a:rPr>
              <a:t>(int id)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332ba2994_0_70"/>
          <p:cNvSpPr txBox="1">
            <a:spLocks noGrp="1"/>
          </p:cNvSpPr>
          <p:nvPr>
            <p:ph type="title"/>
          </p:nvPr>
        </p:nvSpPr>
        <p:spPr>
          <a:xfrm>
            <a:off x="1236259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Déclaration du package et imports JUnit</a:t>
            </a:r>
            <a:endParaRPr lang="en-US" b="1"/>
          </a:p>
        </p:txBody>
      </p:sp>
      <p:sp>
        <p:nvSpPr>
          <p:cNvPr id="182" name="Google Shape;182;g6332ba2994_0_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183" name="Google Shape;183;g6332ba2994_0_70"/>
          <p:cNvSpPr txBox="1"/>
          <p:nvPr/>
        </p:nvSpPr>
        <p:spPr>
          <a:xfrm>
            <a:off x="285466" y="1505443"/>
            <a:ext cx="11613000" cy="270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>
                <a:solidFill>
                  <a:schemeClr val="tx1"/>
                </a:solidFill>
                <a:latin typeface="Calibri"/>
                <a:cs typeface="Times New Roman"/>
              </a:rPr>
              <a:t>Dans la classe </a:t>
            </a:r>
            <a:r>
              <a:rPr lang="fr-FR" sz="2400" dirty="0" err="1">
                <a:solidFill>
                  <a:schemeClr val="tx1"/>
                </a:solidFill>
                <a:latin typeface="Calibri"/>
                <a:cs typeface="Times New Roman"/>
              </a:rPr>
              <a:t>PersonneServicesTest</a:t>
            </a:r>
            <a:r>
              <a:rPr lang="fr-FR" sz="2400" dirty="0">
                <a:solidFill>
                  <a:schemeClr val="tx1"/>
                </a:solidFill>
                <a:latin typeface="Calibri"/>
                <a:cs typeface="Times New Roman"/>
              </a:rPr>
              <a:t>:</a:t>
            </a:r>
            <a:r>
              <a:rPr lang="fr-FR" sz="2400" dirty="0">
                <a:solidFill>
                  <a:srgbClr val="0033B3"/>
                </a:solidFill>
                <a:latin typeface="Calibri"/>
                <a:cs typeface="Times New Roman"/>
              </a:rPr>
              <a:t> </a:t>
            </a:r>
          </a:p>
          <a:p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import </a:t>
            </a:r>
            <a:r>
              <a:rPr lang="fr-FR" sz="2400" err="1">
                <a:solidFill>
                  <a:schemeClr val="dk1"/>
                </a:solidFill>
                <a:latin typeface="Consolas"/>
                <a:cs typeface="Times New Roman"/>
              </a:rPr>
              <a:t>org.junit.jupiter.api</a:t>
            </a:r>
            <a:r>
              <a:rPr lang="fr-FR" sz="2400" dirty="0">
                <a:solidFill>
                  <a:schemeClr val="dk1"/>
                </a:solidFill>
                <a:latin typeface="Consolas"/>
                <a:cs typeface="Times New Roman"/>
              </a:rPr>
              <a:t>.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*; </a:t>
            </a:r>
            <a:r>
              <a:rPr lang="fr-FR" sz="2400" b="1" dirty="0">
                <a:solidFill>
                  <a:srgbClr val="080808"/>
                </a:solidFill>
                <a:latin typeface="Calibri"/>
              </a:rPr>
              <a:t>Cet import permet d’utiliser les annotations JUnit pour définir les tests. </a:t>
            </a:r>
            <a:endParaRPr lang="en-US" b="1"/>
          </a:p>
          <a:p>
            <a:pPr marL="285750" indent="-285750">
              <a:buChar char="•"/>
            </a:pPr>
            <a:r>
              <a:rPr lang="fr-FR" sz="2400" dirty="0">
                <a:solidFill>
                  <a:srgbClr val="080808"/>
                </a:solidFill>
                <a:latin typeface="Consolas"/>
              </a:rPr>
              <a:t>@Test</a:t>
            </a:r>
            <a:endParaRPr lang="en-US" dirty="0"/>
          </a:p>
          <a:p>
            <a:pPr marL="285750" indent="-285750">
              <a:buChar char="•"/>
            </a:pPr>
            <a:r>
              <a:rPr lang="fr-FR" sz="2400" dirty="0">
                <a:solidFill>
                  <a:srgbClr val="080808"/>
                </a:solidFill>
                <a:latin typeface="Consolas"/>
              </a:rPr>
              <a:t>@BeforeAll</a:t>
            </a:r>
            <a:endParaRPr lang="fr-FR" dirty="0"/>
          </a:p>
          <a:p>
            <a:pPr marL="285750" indent="-285750">
              <a:buChar char="•"/>
            </a:pPr>
            <a:r>
              <a:rPr lang="fr-FR" sz="2400" dirty="0">
                <a:solidFill>
                  <a:srgbClr val="080808"/>
                </a:solidFill>
                <a:latin typeface="Consolas"/>
              </a:rPr>
              <a:t>@AfterEach</a:t>
            </a:r>
            <a:endParaRPr lang="fr-FR" dirty="0"/>
          </a:p>
          <a:p>
            <a:pPr marL="285750" indent="-285750">
              <a:buChar char="•"/>
            </a:pPr>
            <a:r>
              <a:rPr lang="fr-FR" sz="2400">
                <a:solidFill>
                  <a:srgbClr val="080808"/>
                </a:solidFill>
                <a:latin typeface="Consolas"/>
              </a:rPr>
              <a:t>@Order</a:t>
            </a:r>
            <a:br>
              <a:rPr lang="fr-FR" sz="2400" dirty="0">
                <a:latin typeface="Consolas"/>
                <a:cs typeface="Times New Roman"/>
              </a:rPr>
            </a:br>
            <a:endParaRPr lang="fr-FR" sz="2400">
              <a:solidFill>
                <a:srgbClr val="080808"/>
              </a:solidFill>
              <a:latin typeface="Consolas"/>
            </a:endParaRPr>
          </a:p>
          <a:p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import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 </a:t>
            </a:r>
            <a:r>
              <a:rPr lang="fr-FR" sz="2400" err="1">
                <a:solidFill>
                  <a:srgbClr val="0033B3"/>
                </a:solidFill>
                <a:latin typeface="Consolas"/>
                <a:cs typeface="Times New Roman"/>
              </a:rPr>
              <a:t>static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 </a:t>
            </a:r>
            <a:r>
              <a:rPr lang="fr-FR" sz="2400" err="1">
                <a:solidFill>
                  <a:schemeClr val="dk1"/>
                </a:solidFill>
                <a:latin typeface="Consolas"/>
                <a:cs typeface="Times New Roman"/>
              </a:rPr>
              <a:t>org.junit.jupiter.api.Assertions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.*; </a:t>
            </a:r>
            <a:r>
              <a:rPr lang="fr-FR" sz="2400" b="1" dirty="0">
                <a:solidFill>
                  <a:srgbClr val="080808"/>
                </a:solidFill>
                <a:latin typeface="Calibri"/>
              </a:rPr>
              <a:t>Il permet d’utiliser :</a:t>
            </a:r>
            <a:endParaRPr lang="en-US" sz="2400" b="1">
              <a:latin typeface="Calibri"/>
            </a:endParaRPr>
          </a:p>
          <a:p>
            <a:pPr marL="285750" indent="-285750">
              <a:buChar char="•"/>
            </a:pPr>
            <a:r>
              <a:rPr lang="fr-FR" sz="2400" dirty="0" err="1">
                <a:solidFill>
                  <a:srgbClr val="080808"/>
                </a:solidFill>
                <a:latin typeface="Consolas"/>
                <a:cs typeface="Times New Roman"/>
              </a:rPr>
              <a:t>assertTrue</a:t>
            </a:r>
            <a:endParaRPr lang="fr-FR" dirty="0" err="1"/>
          </a:p>
          <a:p>
            <a:pPr marL="285750" indent="-285750">
              <a:buChar char="•"/>
            </a:pPr>
            <a:r>
              <a:rPr lang="fr-FR" sz="2400" dirty="0" err="1">
                <a:solidFill>
                  <a:srgbClr val="080808"/>
                </a:solidFill>
                <a:latin typeface="Consolas"/>
                <a:cs typeface="Times New Roman"/>
              </a:rPr>
              <a:t>assertFalse</a:t>
            </a:r>
            <a:endParaRPr lang="fr-FR" dirty="0" err="1"/>
          </a:p>
          <a:p>
            <a:pPr marL="285750" indent="-285750">
              <a:buChar char="•"/>
            </a:pPr>
            <a:r>
              <a:rPr lang="fr-FR" sz="2400" dirty="0" err="1">
                <a:solidFill>
                  <a:srgbClr val="080808"/>
                </a:solidFill>
                <a:latin typeface="Consolas"/>
                <a:cs typeface="Times New Roman"/>
              </a:rPr>
              <a:t>assertEquals</a:t>
            </a:r>
            <a:endParaRPr lang="fr-FR" dirty="0" err="1"/>
          </a:p>
          <a:p>
            <a:pPr marL="285750" indent="-285750">
              <a:buChar char="•"/>
            </a:pPr>
            <a:r>
              <a:rPr lang="fr-FR" sz="2400" dirty="0" err="1">
                <a:solidFill>
                  <a:srgbClr val="080808"/>
                </a:solidFill>
                <a:latin typeface="Consolas"/>
                <a:cs typeface="Times New Roman"/>
              </a:rPr>
              <a:t>assertNotNull</a:t>
            </a:r>
            <a:endParaRPr lang="fr-FR" dirty="0" err="1"/>
          </a:p>
          <a:p>
            <a:pPr marL="457200">
              <a:lnSpc>
                <a:spcPct val="150000"/>
              </a:lnSpc>
              <a:spcBef>
                <a:spcPts val="500"/>
              </a:spcBef>
            </a:pPr>
            <a:endParaRPr lang="fr-FR" sz="240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AF4598-D6F6-1994-74B0-BAC12684D969}"/>
              </a:ext>
            </a:extLst>
          </p:cNvPr>
          <p:cNvSpPr txBox="1"/>
          <p:nvPr/>
        </p:nvSpPr>
        <p:spPr>
          <a:xfrm>
            <a:off x="3459389" y="5171500"/>
            <a:ext cx="847530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Les assertions servent à vérifier si le résultat obtenu est correct.</a:t>
            </a:r>
            <a:endParaRPr lang="en-US" sz="24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332ba2994_0_79"/>
          <p:cNvSpPr txBox="1">
            <a:spLocks noGrp="1"/>
          </p:cNvSpPr>
          <p:nvPr>
            <p:ph type="title"/>
          </p:nvPr>
        </p:nvSpPr>
        <p:spPr>
          <a:xfrm>
            <a:off x="917812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  Initialisation du service (</a:t>
            </a:r>
            <a:r>
              <a:rPr lang="fr-FR" b="1" dirty="0">
                <a:latin typeface="Consolas"/>
              </a:rPr>
              <a:t>@BeforeAll</a:t>
            </a:r>
            <a:r>
              <a:rPr lang="fr-FR" b="1" dirty="0"/>
              <a:t>)</a:t>
            </a:r>
            <a:endParaRPr lang="en-US" b="1"/>
          </a:p>
        </p:txBody>
      </p:sp>
      <p:sp>
        <p:nvSpPr>
          <p:cNvPr id="189" name="Google Shape;189;g6332ba2994_0_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190" name="Google Shape;190;g6332ba2994_0_79"/>
          <p:cNvSpPr txBox="1"/>
          <p:nvPr/>
        </p:nvSpPr>
        <p:spPr>
          <a:xfrm>
            <a:off x="615286" y="1425831"/>
            <a:ext cx="9725060" cy="338406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>
                <a:solidFill>
                  <a:srgbClr val="9E880D"/>
                </a:solidFill>
                <a:latin typeface="Consolas"/>
                <a:cs typeface="Times New Roman"/>
              </a:rPr>
              <a:t>@TestMethodOrder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(</a:t>
            </a:r>
            <a:r>
              <a:rPr lang="fr-FR" sz="2400" dirty="0">
                <a:solidFill>
                  <a:schemeClr val="dk1"/>
                </a:solidFill>
                <a:latin typeface="Consolas"/>
                <a:cs typeface="Times New Roman"/>
              </a:rPr>
              <a:t>MethodOrderer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.</a:t>
            </a:r>
            <a:r>
              <a:rPr lang="fr-FR" sz="2400" dirty="0">
                <a:solidFill>
                  <a:schemeClr val="dk1"/>
                </a:solidFill>
                <a:latin typeface="Consolas"/>
                <a:cs typeface="Times New Roman"/>
              </a:rPr>
              <a:t>OrderAnnotation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.</a:t>
            </a:r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class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)</a:t>
            </a: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public class </a:t>
            </a:r>
            <a:r>
              <a:rPr lang="fr-FR" sz="2400" err="1">
                <a:solidFill>
                  <a:schemeClr val="dk1"/>
                </a:solidFill>
                <a:latin typeface="Consolas"/>
                <a:cs typeface="Times New Roman"/>
              </a:rPr>
              <a:t>PersonneServiceTest</a:t>
            </a:r>
            <a:r>
              <a:rPr lang="fr-FR" sz="2400" dirty="0">
                <a:solidFill>
                  <a:schemeClr val="dk1"/>
                </a:solidFill>
                <a:latin typeface="Consolas"/>
                <a:cs typeface="Times New Roman"/>
              </a:rPr>
              <a:t> 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{</a:t>
            </a: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    </a:t>
            </a:r>
            <a:r>
              <a:rPr lang="fr-FR" sz="2400" err="1">
                <a:solidFill>
                  <a:srgbClr val="0033B3"/>
                </a:solidFill>
                <a:latin typeface="Consolas"/>
                <a:cs typeface="Times New Roman"/>
              </a:rPr>
              <a:t>static</a:t>
            </a:r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 </a:t>
            </a:r>
            <a:r>
              <a:rPr lang="fr-FR" sz="2400" err="1">
                <a:solidFill>
                  <a:schemeClr val="dk1"/>
                </a:solidFill>
                <a:latin typeface="Consolas"/>
                <a:cs typeface="Times New Roman"/>
              </a:rPr>
              <a:t>PersonneServices</a:t>
            </a:r>
            <a:r>
              <a:rPr lang="fr-FR" sz="2400" dirty="0">
                <a:solidFill>
                  <a:schemeClr val="dk1"/>
                </a:solidFill>
                <a:latin typeface="Consolas"/>
                <a:cs typeface="Times New Roman"/>
              </a:rPr>
              <a:t> </a:t>
            </a:r>
            <a:r>
              <a:rPr lang="fr-FR" sz="2400" i="1" dirty="0">
                <a:solidFill>
                  <a:srgbClr val="871094"/>
                </a:solidFill>
                <a:latin typeface="Consolas"/>
                <a:cs typeface="Times New Roman"/>
              </a:rPr>
              <a:t>service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;</a:t>
            </a:r>
            <a:br>
              <a:rPr lang="fr-FR" sz="2400" dirty="0">
                <a:latin typeface="Consolas"/>
                <a:cs typeface="Times New Roman"/>
              </a:rPr>
            </a:b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    </a:t>
            </a:r>
            <a:r>
              <a:rPr lang="fr-FR" sz="2400" dirty="0">
                <a:solidFill>
                  <a:srgbClr val="9E880D"/>
                </a:solidFill>
                <a:latin typeface="Consolas"/>
                <a:cs typeface="Times New Roman"/>
              </a:rPr>
              <a:t>@BeforeAll</a:t>
            </a: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9E880D"/>
                </a:solidFill>
                <a:latin typeface="Consolas"/>
                <a:cs typeface="Times New Roman"/>
              </a:rPr>
              <a:t>    </a:t>
            </a:r>
            <a:r>
              <a:rPr lang="fr-FR" sz="2400" err="1">
                <a:solidFill>
                  <a:srgbClr val="0033B3"/>
                </a:solidFill>
                <a:latin typeface="Consolas"/>
                <a:cs typeface="Times New Roman"/>
              </a:rPr>
              <a:t>static</a:t>
            </a:r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 </a:t>
            </a:r>
            <a:r>
              <a:rPr lang="fr-FR" sz="2400" err="1">
                <a:solidFill>
                  <a:srgbClr val="0033B3"/>
                </a:solidFill>
                <a:latin typeface="Consolas"/>
                <a:cs typeface="Times New Roman"/>
              </a:rPr>
              <a:t>void</a:t>
            </a:r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 </a:t>
            </a:r>
            <a:r>
              <a:rPr lang="fr-FR" sz="2400" dirty="0">
                <a:solidFill>
                  <a:srgbClr val="00627A"/>
                </a:solidFill>
                <a:latin typeface="Consolas"/>
                <a:cs typeface="Times New Roman"/>
              </a:rPr>
              <a:t>setup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() {</a:t>
            </a: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        </a:t>
            </a:r>
            <a:r>
              <a:rPr lang="fr-FR" sz="2400" i="1" dirty="0">
                <a:solidFill>
                  <a:srgbClr val="871094"/>
                </a:solidFill>
                <a:latin typeface="Consolas"/>
                <a:cs typeface="Times New Roman"/>
              </a:rPr>
              <a:t>service 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= </a:t>
            </a:r>
            <a:r>
              <a:rPr lang="fr-FR" sz="2400" dirty="0">
                <a:solidFill>
                  <a:srgbClr val="0033B3"/>
                </a:solidFill>
                <a:latin typeface="Consolas"/>
                <a:cs typeface="Times New Roman"/>
              </a:rPr>
              <a:t>new </a:t>
            </a:r>
            <a:r>
              <a:rPr lang="fr-FR" sz="2400" err="1">
                <a:solidFill>
                  <a:srgbClr val="080808"/>
                </a:solidFill>
                <a:latin typeface="Consolas"/>
                <a:cs typeface="Times New Roman"/>
              </a:rPr>
              <a:t>PersonneServices</a:t>
            </a: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();</a:t>
            </a: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    }</a:t>
            </a:r>
            <a:br>
              <a:rPr lang="fr-FR" sz="2400" dirty="0">
                <a:latin typeface="Consolas"/>
                <a:cs typeface="Times New Roman"/>
              </a:rPr>
            </a:br>
            <a:r>
              <a:rPr lang="fr-FR" sz="2400" dirty="0">
                <a:solidFill>
                  <a:srgbClr val="080808"/>
                </a:solidFill>
                <a:latin typeface="Consolas"/>
                <a:cs typeface="Times New Roman"/>
              </a:rPr>
              <a:t>}</a:t>
            </a:r>
            <a:endParaRPr lang="en-US" dirty="0"/>
          </a:p>
          <a:p>
            <a:pPr marL="139700" marR="0" lvl="0" algn="l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SzPts val="1400"/>
            </a:pPr>
            <a:endParaRPr lang="fr-FR" sz="2400" u="sng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33904F-8C66-90BA-C09E-10DC0FA58C29}"/>
              </a:ext>
            </a:extLst>
          </p:cNvPr>
          <p:cNvSpPr txBox="1"/>
          <p:nvPr/>
        </p:nvSpPr>
        <p:spPr>
          <a:xfrm>
            <a:off x="671302" y="1507664"/>
            <a:ext cx="9045858" cy="4437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F1223393-126A-8DBE-BD0C-63404357DB7C}"/>
              </a:ext>
            </a:extLst>
          </p:cNvPr>
          <p:cNvSpPr/>
          <p:nvPr/>
        </p:nvSpPr>
        <p:spPr>
          <a:xfrm>
            <a:off x="8624878" y="1968539"/>
            <a:ext cx="318574" cy="320312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0F0B8-5DCE-B732-AFB9-55FB4CE48630}"/>
              </a:ext>
            </a:extLst>
          </p:cNvPr>
          <p:cNvSpPr txBox="1"/>
          <p:nvPr/>
        </p:nvSpPr>
        <p:spPr>
          <a:xfrm>
            <a:off x="224458" y="5109050"/>
            <a:ext cx="117395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Calibri"/>
              </a:rPr>
              <a:t>permet</a:t>
            </a:r>
            <a:r>
              <a:rPr lang="en-US" sz="2400" dirty="0">
                <a:latin typeface="Calibri"/>
              </a:rPr>
              <a:t> de </a:t>
            </a:r>
            <a:r>
              <a:rPr lang="en-US" sz="2400" b="1" err="1">
                <a:latin typeface="Calibri"/>
              </a:rPr>
              <a:t>définir</a:t>
            </a:r>
            <a:r>
              <a:rPr lang="en-US" sz="2400" b="1" dirty="0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l’ordre</a:t>
            </a:r>
            <a:r>
              <a:rPr lang="en-US" sz="2400" b="1" dirty="0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d’exécution</a:t>
            </a:r>
            <a:r>
              <a:rPr lang="en-US" sz="2400" b="1" dirty="0">
                <a:latin typeface="Calibri"/>
              </a:rPr>
              <a:t> des </a:t>
            </a:r>
            <a:r>
              <a:rPr lang="en-US" sz="2400" b="1" err="1">
                <a:latin typeface="Calibri"/>
              </a:rPr>
              <a:t>méthodes</a:t>
            </a:r>
            <a:r>
              <a:rPr lang="en-US" sz="2400" b="1" dirty="0">
                <a:latin typeface="Calibri"/>
              </a:rPr>
              <a:t> de test</a:t>
            </a:r>
            <a:r>
              <a:rPr lang="en-US" sz="2400" dirty="0">
                <a:latin typeface="Calibri"/>
              </a:rPr>
              <a:t>, </a:t>
            </a:r>
            <a:r>
              <a:rPr lang="en-US" sz="2400" err="1">
                <a:latin typeface="Calibri"/>
              </a:rPr>
              <a:t>en</a:t>
            </a:r>
            <a:r>
              <a:rPr lang="en-US" sz="2400" dirty="0">
                <a:latin typeface="Calibri"/>
              </a:rPr>
              <a:t> se </a:t>
            </a:r>
            <a:r>
              <a:rPr lang="en-US" sz="2400" err="1">
                <a:latin typeface="Calibri"/>
              </a:rPr>
              <a:t>basant</a:t>
            </a:r>
            <a:r>
              <a:rPr lang="en-US" sz="2400" dirty="0">
                <a:latin typeface="Calibri"/>
              </a:rPr>
              <a:t> sur </a:t>
            </a:r>
            <a:r>
              <a:rPr lang="en-US" sz="2400" err="1">
                <a:latin typeface="Calibri"/>
              </a:rPr>
              <a:t>l’annotation</a:t>
            </a:r>
            <a:r>
              <a:rPr lang="en-US" sz="2400" dirty="0">
                <a:latin typeface="Calibri"/>
              </a:rPr>
              <a:t> </a:t>
            </a:r>
            <a:r>
              <a:rPr lang="en-US" sz="2400" b="1" dirty="0">
                <a:latin typeface="Calibri"/>
              </a:rPr>
              <a:t>@Order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placée</a:t>
            </a:r>
            <a:r>
              <a:rPr lang="en-US" sz="2400" dirty="0">
                <a:latin typeface="Calibri"/>
              </a:rPr>
              <a:t> sur </a:t>
            </a:r>
            <a:r>
              <a:rPr lang="en-US" sz="2400" err="1">
                <a:latin typeface="Calibri"/>
              </a:rPr>
              <a:t>chaque</a:t>
            </a:r>
            <a:r>
              <a:rPr lang="en-US" sz="2400" dirty="0">
                <a:latin typeface="Calibri"/>
              </a:rPr>
              <a:t> test.</a:t>
            </a:r>
            <a:br>
              <a:rPr lang="en-US" sz="2400" dirty="0">
                <a:latin typeface="Calibri"/>
              </a:rPr>
            </a:br>
            <a:r>
              <a:rPr lang="en-US" sz="2400" dirty="0">
                <a:latin typeface="Calibri"/>
              </a:rPr>
              <a:t> Elle est utile </a:t>
            </a:r>
            <a:r>
              <a:rPr lang="en-US" sz="2400" err="1">
                <a:latin typeface="Calibri"/>
              </a:rPr>
              <a:t>lorsque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certains</a:t>
            </a:r>
            <a:r>
              <a:rPr lang="en-US" sz="2400" dirty="0">
                <a:latin typeface="Calibri"/>
              </a:rPr>
              <a:t> tests </a:t>
            </a:r>
            <a:r>
              <a:rPr lang="en-US" sz="2400" err="1">
                <a:latin typeface="Calibri"/>
              </a:rPr>
              <a:t>doivent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être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exécutés</a:t>
            </a:r>
            <a:r>
              <a:rPr lang="en-US" sz="2400" dirty="0">
                <a:latin typeface="Calibri"/>
              </a:rPr>
              <a:t> dans un </a:t>
            </a:r>
            <a:r>
              <a:rPr lang="en-US" sz="2400" err="1">
                <a:latin typeface="Calibri"/>
              </a:rPr>
              <a:t>ordre</a:t>
            </a:r>
            <a:r>
              <a:rPr lang="en-US" sz="2400" dirty="0">
                <a:latin typeface="Calibri"/>
              </a:rPr>
              <a:t> précis (par </a:t>
            </a:r>
            <a:r>
              <a:rPr lang="en-US" sz="2400" err="1">
                <a:latin typeface="Calibri"/>
              </a:rPr>
              <a:t>exemple</a:t>
            </a:r>
            <a:r>
              <a:rPr lang="en-US" sz="2400" dirty="0">
                <a:latin typeface="Calibri"/>
              </a:rPr>
              <a:t>, </a:t>
            </a:r>
            <a:r>
              <a:rPr lang="en-US" sz="2400" err="1">
                <a:latin typeface="Calibri"/>
              </a:rPr>
              <a:t>ajouter</a:t>
            </a:r>
            <a:r>
              <a:rPr lang="en-US" sz="2400" dirty="0">
                <a:latin typeface="Calibri"/>
              </a:rPr>
              <a:t> avant </a:t>
            </a:r>
            <a:r>
              <a:rPr lang="en-US" sz="2400" err="1">
                <a:latin typeface="Calibri"/>
              </a:rPr>
              <a:t>supprimer</a:t>
            </a:r>
            <a:r>
              <a:rPr lang="en-US" sz="2400" dirty="0"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332ba2994_0_86"/>
          <p:cNvSpPr txBox="1">
            <a:spLocks noGrp="1"/>
          </p:cNvSpPr>
          <p:nvPr>
            <p:ph type="title"/>
          </p:nvPr>
        </p:nvSpPr>
        <p:spPr>
          <a:xfrm>
            <a:off x="1327245" y="387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Test 1 : Ajouter une personne</a:t>
            </a:r>
            <a:endParaRPr lang="en-US" b="1"/>
          </a:p>
        </p:txBody>
      </p:sp>
      <p:sp>
        <p:nvSpPr>
          <p:cNvPr id="196" name="Google Shape;196;g6332ba2994_0_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236CF-0965-26DB-B086-74159F76F166}"/>
              </a:ext>
            </a:extLst>
          </p:cNvPr>
          <p:cNvSpPr txBox="1"/>
          <p:nvPr/>
        </p:nvSpPr>
        <p:spPr>
          <a:xfrm>
            <a:off x="360256" y="1551312"/>
            <a:ext cx="11798104" cy="5143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9E880D"/>
                </a:solidFill>
                <a:latin typeface="Consolas"/>
              </a:rPr>
              <a:t>@Test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9E880D"/>
                </a:solidFill>
                <a:latin typeface="Consolas"/>
              </a:rPr>
              <a:t>@Order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1750EB"/>
                </a:solidFill>
                <a:latin typeface="Consolas"/>
              </a:rPr>
              <a:t>1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void </a:t>
            </a:r>
            <a:r>
              <a:rPr lang="en-US" sz="2400" err="1">
                <a:solidFill>
                  <a:srgbClr val="00627A"/>
                </a:solidFill>
                <a:latin typeface="Consolas"/>
              </a:rPr>
              <a:t>testAjouterPersonne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 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throws </a:t>
            </a:r>
            <a:r>
              <a:rPr lang="en-US" sz="2400" err="1">
                <a:solidFill>
                  <a:srgbClr val="000000"/>
                </a:solidFill>
                <a:latin typeface="Consolas"/>
              </a:rPr>
              <a:t>SQLException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{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Personne p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new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Personne(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err="1">
                <a:solidFill>
                  <a:srgbClr val="067D17"/>
                </a:solidFill>
                <a:latin typeface="Consolas"/>
              </a:rPr>
              <a:t>TestNom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, 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"TestPrenom"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,</a:t>
            </a:r>
            <a:r>
              <a:rPr lang="en-US" sz="2400" dirty="0">
                <a:solidFill>
                  <a:srgbClr val="1750EB"/>
                </a:solidFill>
                <a:latin typeface="Consolas"/>
              </a:rPr>
              <a:t>22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i="1" err="1">
                <a:solidFill>
                  <a:srgbClr val="871094"/>
                </a:solidFill>
                <a:latin typeface="Consolas"/>
              </a:rPr>
              <a:t>service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.ajouter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p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List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Personne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&gt; </a:t>
            </a:r>
            <a:r>
              <a:rPr lang="en-US" sz="2400" err="1">
                <a:solidFill>
                  <a:srgbClr val="000000"/>
                </a:solidFill>
                <a:latin typeface="Consolas"/>
              </a:rPr>
              <a:t>personnes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i="1" err="1">
                <a:solidFill>
                  <a:srgbClr val="871094"/>
                </a:solidFill>
                <a:latin typeface="Consolas"/>
              </a:rPr>
              <a:t>service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.afficher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 </a:t>
            </a:r>
            <a:r>
              <a:rPr lang="en-US" sz="2400" b="1" i="1" err="1">
                <a:solidFill>
                  <a:srgbClr val="080808"/>
                </a:solidFill>
                <a:latin typeface="Consolas"/>
              </a:rPr>
              <a:t>assertFalse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b="1" err="1">
                <a:solidFill>
                  <a:srgbClr val="000000"/>
                </a:solidFill>
                <a:latin typeface="Consolas"/>
              </a:rPr>
              <a:t>personnes</a:t>
            </a:r>
            <a:r>
              <a:rPr lang="en-US" sz="2400" b="1" err="1">
                <a:solidFill>
                  <a:srgbClr val="080808"/>
                </a:solidFill>
                <a:latin typeface="Consolas"/>
              </a:rPr>
              <a:t>.isEmpty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());</a:t>
            </a:r>
            <a:br>
              <a:rPr lang="en-US" sz="2400" b="1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b="1" i="1" err="1">
                <a:solidFill>
                  <a:srgbClr val="080808"/>
                </a:solidFill>
                <a:latin typeface="Consolas"/>
              </a:rPr>
              <a:t>assertTrue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</a:t>
            </a:r>
            <a:br>
              <a:rPr lang="en-US" sz="2400" b="1" dirty="0">
                <a:latin typeface="Consolas"/>
              </a:rPr>
            </a:br>
            <a:r>
              <a:rPr lang="en-US" sz="2400" b="1" dirty="0">
                <a:solidFill>
                  <a:srgbClr val="080808"/>
                </a:solidFill>
                <a:latin typeface="Consolas"/>
              </a:rPr>
              <a:t>            </a:t>
            </a:r>
            <a:r>
              <a:rPr lang="en-US" sz="2400" b="1" err="1">
                <a:latin typeface="Consolas"/>
              </a:rPr>
              <a:t>personnes</a:t>
            </a:r>
            <a:r>
              <a:rPr lang="en-US" sz="2400" b="1" err="1">
                <a:solidFill>
                  <a:srgbClr val="080808"/>
                </a:solidFill>
                <a:latin typeface="Consolas"/>
              </a:rPr>
              <a:t>.stream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().</a:t>
            </a:r>
            <a:r>
              <a:rPr lang="en-US" sz="2400" b="1" err="1">
                <a:solidFill>
                  <a:srgbClr val="080808"/>
                </a:solidFill>
                <a:latin typeface="Consolas"/>
              </a:rPr>
              <a:t>anyMatch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b="1" dirty="0">
                <a:latin typeface="Consolas"/>
              </a:rPr>
              <a:t>pers 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-&gt; </a:t>
            </a:r>
            <a:r>
              <a:rPr lang="en-US" sz="2400" b="1" err="1">
                <a:latin typeface="Consolas"/>
              </a:rPr>
              <a:t>pers</a:t>
            </a:r>
            <a:r>
              <a:rPr lang="en-US" sz="2400" b="1" err="1">
                <a:solidFill>
                  <a:srgbClr val="080808"/>
                </a:solidFill>
                <a:latin typeface="Consolas"/>
              </a:rPr>
              <a:t>.getNom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().equals(</a:t>
            </a:r>
            <a:r>
              <a:rPr lang="en-US" sz="2400" b="1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b="1" err="1">
                <a:solidFill>
                  <a:srgbClr val="067D17"/>
                </a:solidFill>
                <a:latin typeface="Consolas"/>
              </a:rPr>
              <a:t>TestNom</a:t>
            </a:r>
            <a:r>
              <a:rPr lang="en-US" sz="2400" b="1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)</a:t>
            </a:r>
            <a:br>
              <a:rPr lang="en-US" sz="2400" b="1" dirty="0">
                <a:latin typeface="Consolas"/>
              </a:rPr>
            </a:br>
            <a:r>
              <a:rPr lang="en-US" sz="2400" b="1" dirty="0">
                <a:solidFill>
                  <a:srgbClr val="080808"/>
                </a:solidFill>
                <a:latin typeface="Consolas"/>
              </a:rPr>
              <a:t>            )</a:t>
            </a:r>
            <a:br>
              <a:rPr lang="en-US" sz="2400" b="1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}</a:t>
            </a:r>
            <a:endParaRPr lang="en-US" sz="2400" dirty="0">
              <a:latin typeface="Consolas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0CA1EC1-C3CD-8A8F-9DD0-963768AD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332ba2994_0_86">
            <a:extLst>
              <a:ext uri="{FF2B5EF4-FFF2-40B4-BE49-F238E27FC236}">
                <a16:creationId xmlns:a16="http://schemas.microsoft.com/office/drawing/2014/main" id="{52046209-D5C8-0749-9C0F-C0C104B49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7245" y="387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Test 1 : Ajouter une personne</a:t>
            </a:r>
            <a:endParaRPr lang="en-US" b="1"/>
          </a:p>
        </p:txBody>
      </p:sp>
      <p:sp>
        <p:nvSpPr>
          <p:cNvPr id="196" name="Google Shape;196;g6332ba2994_0_86">
            <a:extLst>
              <a:ext uri="{FF2B5EF4-FFF2-40B4-BE49-F238E27FC236}">
                <a16:creationId xmlns:a16="http://schemas.microsoft.com/office/drawing/2014/main" id="{99C83792-F5F9-7B4F-68CB-1F8FE38BF8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6D919-8A04-1A13-D66D-A5BBF8B07610}"/>
              </a:ext>
            </a:extLst>
          </p:cNvPr>
          <p:cNvSpPr txBox="1"/>
          <p:nvPr/>
        </p:nvSpPr>
        <p:spPr>
          <a:xfrm>
            <a:off x="360256" y="1551312"/>
            <a:ext cx="11525149" cy="47397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9E880D"/>
                </a:solidFill>
                <a:latin typeface="Consolas"/>
              </a:rPr>
              <a:t>@Test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9E880D"/>
                </a:solidFill>
                <a:latin typeface="Consolas"/>
              </a:rPr>
              <a:t>@Order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1750EB"/>
                </a:solidFill>
                <a:latin typeface="Consolas"/>
              </a:rPr>
              <a:t>1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void </a:t>
            </a:r>
            <a:r>
              <a:rPr lang="en-US" sz="2400" dirty="0" err="1">
                <a:solidFill>
                  <a:srgbClr val="00627A"/>
                </a:solidFill>
                <a:latin typeface="Consolas"/>
              </a:rPr>
              <a:t>testAjouterPersonne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 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throws </a:t>
            </a:r>
            <a:r>
              <a:rPr lang="en-US" sz="2400" dirty="0" err="1">
                <a:solidFill>
                  <a:srgbClr val="000000"/>
                </a:solidFill>
                <a:latin typeface="Consolas"/>
              </a:rPr>
              <a:t>SQLException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{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Personne p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new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Personne(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dirty="0" err="1">
                <a:solidFill>
                  <a:srgbClr val="067D17"/>
                </a:solidFill>
                <a:latin typeface="Consolas"/>
              </a:rPr>
              <a:t>TestNom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, 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"TestPrenom"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,</a:t>
            </a:r>
            <a:r>
              <a:rPr lang="en-US" sz="2400" dirty="0">
                <a:solidFill>
                  <a:srgbClr val="1750EB"/>
                </a:solidFill>
                <a:latin typeface="Consolas"/>
              </a:rPr>
              <a:t>22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i="1" dirty="0" err="1">
                <a:solidFill>
                  <a:srgbClr val="871094"/>
                </a:solidFill>
                <a:latin typeface="Consolas"/>
              </a:rPr>
              <a:t>service</a:t>
            </a:r>
            <a:r>
              <a:rPr lang="en-US" sz="2400" dirty="0" err="1">
                <a:solidFill>
                  <a:srgbClr val="080808"/>
                </a:solidFill>
                <a:latin typeface="Consolas"/>
              </a:rPr>
              <a:t>.ajouter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p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List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Personne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onsolas"/>
              </a:rPr>
              <a:t>personnes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i="1" dirty="0" err="1">
                <a:solidFill>
                  <a:srgbClr val="871094"/>
                </a:solidFill>
                <a:latin typeface="Consolas"/>
              </a:rPr>
              <a:t>service</a:t>
            </a:r>
            <a:r>
              <a:rPr lang="en-US" sz="2400" dirty="0" err="1">
                <a:solidFill>
                  <a:srgbClr val="080808"/>
                </a:solidFill>
                <a:latin typeface="Consolas"/>
              </a:rPr>
              <a:t>.afficher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 </a:t>
            </a:r>
            <a:r>
              <a:rPr lang="en-US" sz="2400" b="1" i="1" dirty="0" err="1">
                <a:solidFill>
                  <a:srgbClr val="080808"/>
                </a:solidFill>
                <a:latin typeface="Consolas"/>
              </a:rPr>
              <a:t>assertFalse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latin typeface="Consolas"/>
              </a:rPr>
              <a:t>personnes</a:t>
            </a:r>
            <a:r>
              <a:rPr lang="en-US" sz="2400" b="1" dirty="0" err="1">
                <a:solidFill>
                  <a:srgbClr val="080808"/>
                </a:solidFill>
                <a:latin typeface="Consolas"/>
              </a:rPr>
              <a:t>.isEmpty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());</a:t>
            </a:r>
            <a:br>
              <a:rPr lang="en-US" sz="2400" b="1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b="1" i="1" dirty="0" err="1">
                <a:solidFill>
                  <a:srgbClr val="080808"/>
                </a:solidFill>
                <a:latin typeface="Consolas"/>
              </a:rPr>
              <a:t>assertTrue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</a:t>
            </a:r>
            <a:br>
              <a:rPr lang="en-US" sz="2400" b="1" dirty="0">
                <a:latin typeface="Consolas"/>
              </a:rPr>
            </a:br>
            <a:r>
              <a:rPr lang="en-US" sz="2400" b="1" dirty="0">
                <a:solidFill>
                  <a:srgbClr val="080808"/>
                </a:solidFill>
                <a:latin typeface="Consolas"/>
              </a:rPr>
              <a:t>     </a:t>
            </a:r>
            <a:r>
              <a:rPr lang="en-US" sz="2400" b="1" dirty="0" err="1">
                <a:latin typeface="Consolas"/>
              </a:rPr>
              <a:t>personnes</a:t>
            </a:r>
            <a:r>
              <a:rPr lang="en-US" sz="2400" b="1" dirty="0" err="1">
                <a:solidFill>
                  <a:srgbClr val="080808"/>
                </a:solidFill>
                <a:latin typeface="Consolas"/>
              </a:rPr>
              <a:t>.stream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().</a:t>
            </a:r>
            <a:r>
              <a:rPr lang="en-US" sz="2400" b="1" dirty="0" err="1">
                <a:solidFill>
                  <a:srgbClr val="080808"/>
                </a:solidFill>
                <a:latin typeface="Consolas"/>
              </a:rPr>
              <a:t>anyMatch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b="1" dirty="0">
                <a:latin typeface="Consolas"/>
              </a:rPr>
              <a:t>pers 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-&gt;                </a:t>
            </a:r>
            <a:r>
              <a:rPr lang="en-US" sz="2400" b="1" dirty="0" err="1">
                <a:latin typeface="Consolas"/>
              </a:rPr>
              <a:t>pers</a:t>
            </a:r>
            <a:r>
              <a:rPr lang="en-US" sz="2400" b="1" dirty="0" err="1">
                <a:solidFill>
                  <a:srgbClr val="080808"/>
                </a:solidFill>
                <a:latin typeface="Consolas"/>
              </a:rPr>
              <a:t>.getNom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().equals(</a:t>
            </a:r>
            <a:r>
              <a:rPr lang="en-US" sz="2400" b="1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b="1" dirty="0" err="1">
                <a:solidFill>
                  <a:srgbClr val="067D17"/>
                </a:solidFill>
                <a:latin typeface="Consolas"/>
              </a:rPr>
              <a:t>TestNom</a:t>
            </a:r>
            <a:r>
              <a:rPr lang="en-US" sz="2400" b="1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b="1" dirty="0">
                <a:solidFill>
                  <a:srgbClr val="080808"/>
                </a:solidFill>
                <a:latin typeface="Consolas"/>
              </a:rPr>
              <a:t>))</a:t>
            </a:r>
            <a:br>
              <a:rPr lang="en-US" sz="2400" b="1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}</a:t>
            </a:r>
            <a:endParaRPr lang="en-US" sz="2400" dirty="0">
              <a:latin typeface="Consolas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95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239777d14_0_0"/>
          <p:cNvSpPr txBox="1">
            <a:spLocks noGrp="1"/>
          </p:cNvSpPr>
          <p:nvPr>
            <p:ph type="title"/>
          </p:nvPr>
        </p:nvSpPr>
        <p:spPr>
          <a:xfrm>
            <a:off x="120214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Test 2 : Modifier une personne</a:t>
            </a:r>
            <a:endParaRPr lang="en-US" b="1"/>
          </a:p>
        </p:txBody>
      </p:sp>
      <p:sp>
        <p:nvSpPr>
          <p:cNvPr id="203" name="Google Shape;203;g6239777d14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ECD5F-E870-F3E7-4DE5-A7A9AC3F76D2}"/>
              </a:ext>
            </a:extLst>
          </p:cNvPr>
          <p:cNvSpPr txBox="1"/>
          <p:nvPr/>
        </p:nvSpPr>
        <p:spPr>
          <a:xfrm>
            <a:off x="546244" y="1377072"/>
            <a:ext cx="10630699" cy="547842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9E880D"/>
                </a:solidFill>
                <a:latin typeface="Consolas"/>
              </a:rPr>
              <a:t>@Test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9E880D"/>
                </a:solidFill>
                <a:latin typeface="Consolas"/>
              </a:rPr>
              <a:t>@Order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1750EB"/>
                </a:solidFill>
                <a:latin typeface="Consolas"/>
              </a:rPr>
              <a:t>2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void </a:t>
            </a:r>
            <a:r>
              <a:rPr lang="en-US" sz="2400" err="1">
                <a:solidFill>
                  <a:srgbClr val="00627A"/>
                </a:solidFill>
                <a:latin typeface="Consolas"/>
              </a:rPr>
              <a:t>testModifierPersonne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 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throws </a:t>
            </a:r>
            <a:r>
              <a:rPr lang="en-US" sz="2400" err="1">
                <a:latin typeface="Consolas"/>
              </a:rPr>
              <a:t>SQLException</a:t>
            </a:r>
            <a:r>
              <a:rPr lang="en-US" sz="2400" dirty="0"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{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dirty="0">
                <a:latin typeface="Consolas"/>
              </a:rPr>
              <a:t>Personne p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new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Personne();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err="1">
                <a:latin typeface="Consolas"/>
              </a:rPr>
              <a:t>p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.setId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i="1" err="1">
                <a:solidFill>
                  <a:srgbClr val="871094"/>
                </a:solidFill>
                <a:latin typeface="Consolas"/>
              </a:rPr>
              <a:t>idPersonneTest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err="1">
                <a:latin typeface="Consolas"/>
              </a:rPr>
              <a:t>p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.setNom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err="1">
                <a:solidFill>
                  <a:srgbClr val="067D17"/>
                </a:solidFill>
                <a:latin typeface="Consolas"/>
              </a:rPr>
              <a:t>NomModifie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err="1">
                <a:latin typeface="Consolas"/>
              </a:rPr>
              <a:t>p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.setPrenom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err="1">
                <a:solidFill>
                  <a:srgbClr val="067D17"/>
                </a:solidFill>
                <a:latin typeface="Consolas"/>
              </a:rPr>
              <a:t>PrenomModifie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i="1" err="1">
                <a:solidFill>
                  <a:srgbClr val="871094"/>
                </a:solidFill>
                <a:latin typeface="Consolas"/>
              </a:rPr>
              <a:t>service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.modifier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latin typeface="Consolas"/>
              </a:rPr>
              <a:t>p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dirty="0">
                <a:latin typeface="Consolas"/>
              </a:rPr>
              <a:t>List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&lt;</a:t>
            </a:r>
            <a:r>
              <a:rPr lang="en-US" sz="2400" dirty="0">
                <a:latin typeface="Consolas"/>
              </a:rPr>
              <a:t>Personne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&gt; </a:t>
            </a:r>
            <a:r>
              <a:rPr lang="en-US" sz="2400" err="1">
                <a:latin typeface="Consolas"/>
              </a:rPr>
              <a:t>personnes</a:t>
            </a:r>
            <a:r>
              <a:rPr lang="en-US" sz="2400" dirty="0"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i="1" err="1">
                <a:solidFill>
                  <a:srgbClr val="871094"/>
                </a:solidFill>
                <a:latin typeface="Consolas"/>
              </a:rPr>
              <a:t>service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.afficher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err="1">
                <a:solidFill>
                  <a:srgbClr val="0033B3"/>
                </a:solidFill>
                <a:latin typeface="Consolas"/>
              </a:rPr>
              <a:t>boolean</a:t>
            </a:r>
            <a:r>
              <a:rPr lang="en-US" sz="2400" dirty="0">
                <a:solidFill>
                  <a:srgbClr val="0033B3"/>
                </a:solidFill>
                <a:latin typeface="Consolas"/>
              </a:rPr>
              <a:t> </a:t>
            </a:r>
            <a:r>
              <a:rPr lang="en-US" sz="2400" err="1">
                <a:latin typeface="Consolas"/>
              </a:rPr>
              <a:t>trouve</a:t>
            </a:r>
            <a:r>
              <a:rPr lang="en-US" sz="2400" dirty="0">
                <a:latin typeface="Consolas"/>
              </a:rPr>
              <a:t>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= </a:t>
            </a:r>
            <a:r>
              <a:rPr lang="en-US" sz="2400" err="1">
                <a:latin typeface="Consolas"/>
              </a:rPr>
              <a:t>personnes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.stream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        .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anyMatch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dirty="0">
                <a:latin typeface="Consolas"/>
              </a:rPr>
              <a:t>per 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-&gt; </a:t>
            </a:r>
            <a:r>
              <a:rPr lang="en-US" sz="2400" err="1">
                <a:latin typeface="Consolas"/>
              </a:rPr>
              <a:t>per</a:t>
            </a:r>
            <a:r>
              <a:rPr lang="en-US" sz="2400" err="1">
                <a:solidFill>
                  <a:srgbClr val="080808"/>
                </a:solidFill>
                <a:latin typeface="Consolas"/>
              </a:rPr>
              <a:t>.getNom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().equals(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err="1">
                <a:solidFill>
                  <a:srgbClr val="067D17"/>
                </a:solidFill>
                <a:latin typeface="Consolas"/>
              </a:rPr>
              <a:t>NomModifie</a:t>
            </a:r>
            <a:r>
              <a:rPr lang="en-US" sz="2400" dirty="0">
                <a:solidFill>
                  <a:srgbClr val="067D17"/>
                </a:solidFill>
                <a:latin typeface="Consolas"/>
              </a:rPr>
              <a:t>"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    </a:t>
            </a:r>
            <a:r>
              <a:rPr lang="en-US" sz="2400" i="1" err="1">
                <a:solidFill>
                  <a:srgbClr val="080808"/>
                </a:solidFill>
                <a:latin typeface="Consolas"/>
              </a:rPr>
              <a:t>assertTrue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(</a:t>
            </a:r>
            <a:r>
              <a:rPr lang="en-US" sz="2400" err="1">
                <a:latin typeface="Consolas"/>
              </a:rPr>
              <a:t>trouve</a:t>
            </a:r>
            <a:r>
              <a:rPr lang="en-US" sz="2400" dirty="0">
                <a:solidFill>
                  <a:srgbClr val="080808"/>
                </a:solidFill>
                <a:latin typeface="Consolas"/>
              </a:rPr>
              <a:t>);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solidFill>
                  <a:srgbClr val="080808"/>
                </a:solidFill>
                <a:latin typeface="Consolas"/>
              </a:rPr>
              <a:t>}</a:t>
            </a:r>
            <a:endParaRPr lang="en-US" sz="2400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B8D75769-36AB-217A-1B66-F075EA7F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239777d14_0_0">
            <a:extLst>
              <a:ext uri="{FF2B5EF4-FFF2-40B4-BE49-F238E27FC236}">
                <a16:creationId xmlns:a16="http://schemas.microsoft.com/office/drawing/2014/main" id="{F25433E4-4C30-6DD1-27CC-353C6BF1F5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9782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fr-FR" b="1" dirty="0"/>
              <a:t>Test 2 : Modifier une personne</a:t>
            </a:r>
            <a:endParaRPr lang="en-US" b="1"/>
          </a:p>
        </p:txBody>
      </p:sp>
      <p:sp>
        <p:nvSpPr>
          <p:cNvPr id="203" name="Google Shape;203;g6239777d14_0_0">
            <a:extLst>
              <a:ext uri="{FF2B5EF4-FFF2-40B4-BE49-F238E27FC236}">
                <a16:creationId xmlns:a16="http://schemas.microsoft.com/office/drawing/2014/main" id="{7F936F54-64D3-8983-EAA2-95CDEBD710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SzPts val="1200"/>
              <a:buNone/>
            </a:pPr>
            <a:fld id="{00000000-1234-1234-1234-123412341234}" type="slidenum">
              <a:rPr lang="fr-FR"/>
              <a:pPr marL="0" lvl="0" indent="0" rtl="0">
                <a:spcBef>
                  <a:spcPts val="0"/>
                </a:spcBef>
                <a:spcAft>
                  <a:spcPts val="600"/>
                </a:spcAft>
                <a:buSzPts val="1200"/>
                <a:buNone/>
              </a:pPr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F5DA27-E6C2-E8EF-AD04-732692978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0" r="15829" b="-1"/>
          <a:stretch>
            <a:fillRect/>
          </a:stretch>
        </p:blipFill>
        <p:spPr>
          <a:xfrm>
            <a:off x="179522" y="1713290"/>
            <a:ext cx="5259093" cy="26735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0915BD-BB47-0993-FE75-892DE82220BF}"/>
              </a:ext>
            </a:extLst>
          </p:cNvPr>
          <p:cNvSpPr txBox="1"/>
          <p:nvPr/>
        </p:nvSpPr>
        <p:spPr>
          <a:xfrm>
            <a:off x="5750321" y="1530808"/>
            <a:ext cx="6437194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Calibri"/>
              </a:rPr>
              <a:t>Donc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soit</a:t>
            </a:r>
            <a:r>
              <a:rPr lang="en-US" sz="2400" dirty="0">
                <a:latin typeface="Calibri"/>
              </a:rPr>
              <a:t> :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Calibri"/>
              </a:rPr>
              <a:t>la modification </a:t>
            </a:r>
            <a:r>
              <a:rPr lang="en-US" sz="2400" b="1" err="1">
                <a:latin typeface="Calibri"/>
              </a:rPr>
              <a:t>n’a</a:t>
            </a:r>
            <a:r>
              <a:rPr lang="en-US" sz="2400" b="1" dirty="0">
                <a:latin typeface="Calibri"/>
              </a:rPr>
              <a:t> pas </a:t>
            </a:r>
            <a:r>
              <a:rPr lang="en-US" sz="2400" b="1" err="1">
                <a:latin typeface="Calibri"/>
              </a:rPr>
              <a:t>été</a:t>
            </a:r>
            <a:r>
              <a:rPr lang="en-US" sz="2400" b="1" dirty="0">
                <a:latin typeface="Calibri"/>
              </a:rPr>
              <a:t> </a:t>
            </a:r>
            <a:r>
              <a:rPr lang="en-US" sz="2400" b="1" err="1">
                <a:latin typeface="Calibri"/>
              </a:rPr>
              <a:t>appliquée</a:t>
            </a:r>
            <a:endParaRPr lang="en-US" sz="2400" b="1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err="1">
                <a:latin typeface="Calibri"/>
              </a:rPr>
              <a:t>soit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afficher</a:t>
            </a:r>
            <a:r>
              <a:rPr lang="en-US" sz="2400" dirty="0">
                <a:latin typeface="Calibri"/>
              </a:rPr>
              <a:t>() ne </a:t>
            </a:r>
            <a:r>
              <a:rPr lang="en-US" sz="2400" err="1">
                <a:latin typeface="Calibri"/>
              </a:rPr>
              <a:t>retourne</a:t>
            </a:r>
            <a:r>
              <a:rPr lang="en-US" sz="2400" dirty="0">
                <a:latin typeface="Calibri"/>
              </a:rPr>
              <a:t> pas </a:t>
            </a:r>
            <a:r>
              <a:rPr lang="en-US" sz="2400" err="1">
                <a:latin typeface="Calibri"/>
              </a:rPr>
              <a:t>ce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que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tu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crois</a:t>
            </a:r>
            <a:endParaRPr lang="en-US" sz="2400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err="1">
                <a:latin typeface="Calibri"/>
              </a:rPr>
              <a:t>soit</a:t>
            </a:r>
            <a:r>
              <a:rPr lang="en-US" sz="2400" dirty="0">
                <a:latin typeface="Calibri"/>
              </a:rPr>
              <a:t> le test </a:t>
            </a:r>
            <a:r>
              <a:rPr lang="en-US" sz="2400" err="1">
                <a:latin typeface="Calibri"/>
              </a:rPr>
              <a:t>dépend</a:t>
            </a:r>
            <a:r>
              <a:rPr lang="en-US" sz="2400" dirty="0">
                <a:latin typeface="Calibri"/>
              </a:rPr>
              <a:t> d’un état incorrect de la BD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1699A-3291-2FAF-0246-32125B9E0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910" y="4519455"/>
            <a:ext cx="9668025" cy="202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88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8F042A77-867D-4FB4-630E-2C5E3D2B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239777d14_0_0">
            <a:extLst>
              <a:ext uri="{FF2B5EF4-FFF2-40B4-BE49-F238E27FC236}">
                <a16:creationId xmlns:a16="http://schemas.microsoft.com/office/drawing/2014/main" id="{7FED6AEF-EE68-FB9B-416C-98690503AD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fr-FR" b="1" dirty="0"/>
              <a:t>  Test 3 : Supprimer une personne</a:t>
            </a:r>
            <a:endParaRPr lang="en-US" b="1"/>
          </a:p>
        </p:txBody>
      </p:sp>
      <p:sp>
        <p:nvSpPr>
          <p:cNvPr id="203" name="Google Shape;203;g6239777d14_0_0">
            <a:extLst>
              <a:ext uri="{FF2B5EF4-FFF2-40B4-BE49-F238E27FC236}">
                <a16:creationId xmlns:a16="http://schemas.microsoft.com/office/drawing/2014/main" id="{2077C089-4C32-C25B-0D90-E89EDF2FA3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SzPts val="1200"/>
              <a:buNone/>
            </a:pPr>
            <a:fld id="{00000000-1234-1234-1234-123412341234}" type="slidenum">
              <a:rPr lang="fr-FR"/>
              <a:pPr marL="0" lvl="0" indent="0" rtl="0">
                <a:spcBef>
                  <a:spcPts val="0"/>
                </a:spcBef>
                <a:spcAft>
                  <a:spcPts val="600"/>
                </a:spcAft>
                <a:buSzPts val="1200"/>
                <a:buNone/>
              </a:pPr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8C5AF-3706-83E3-424B-C70CE7C0582D}"/>
              </a:ext>
            </a:extLst>
          </p:cNvPr>
          <p:cNvSpPr txBox="1"/>
          <p:nvPr/>
        </p:nvSpPr>
        <p:spPr>
          <a:xfrm>
            <a:off x="301628" y="1597445"/>
            <a:ext cx="11703435" cy="47397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E880D"/>
                </a:solidFill>
              </a:rPr>
              <a:t>@Test</a:t>
            </a:r>
            <a:br>
              <a:rPr lang="en-US" sz="2400" dirty="0"/>
            </a:br>
            <a:r>
              <a:rPr lang="en-US" sz="2400" dirty="0">
                <a:solidFill>
                  <a:srgbClr val="9E880D"/>
                </a:solidFill>
              </a:rPr>
              <a:t>@Order</a:t>
            </a:r>
            <a:r>
              <a:rPr lang="en-US" sz="2400" dirty="0">
                <a:solidFill>
                  <a:srgbClr val="080808"/>
                </a:solidFill>
              </a:rPr>
              <a:t>(</a:t>
            </a:r>
            <a:r>
              <a:rPr lang="en-US" sz="2400" dirty="0">
                <a:solidFill>
                  <a:srgbClr val="1750EB"/>
                </a:solidFill>
              </a:rPr>
              <a:t>3</a:t>
            </a:r>
            <a:r>
              <a:rPr lang="en-US" sz="2400" dirty="0">
                <a:solidFill>
                  <a:srgbClr val="080808"/>
                </a:solidFill>
              </a:rPr>
              <a:t>)</a:t>
            </a:r>
            <a:br>
              <a:rPr lang="en-US" sz="2400" dirty="0"/>
            </a:br>
            <a:r>
              <a:rPr lang="en-US" sz="2400" dirty="0">
                <a:solidFill>
                  <a:srgbClr val="0033B3"/>
                </a:solidFill>
              </a:rPr>
              <a:t>void </a:t>
            </a:r>
            <a:r>
              <a:rPr lang="en-US" sz="2400" err="1">
                <a:solidFill>
                  <a:srgbClr val="00627A"/>
                </a:solidFill>
              </a:rPr>
              <a:t>testSupprimerPersonne</a:t>
            </a:r>
            <a:r>
              <a:rPr lang="en-US" sz="2400" dirty="0">
                <a:solidFill>
                  <a:srgbClr val="080808"/>
                </a:solidFill>
              </a:rPr>
              <a:t>() </a:t>
            </a:r>
            <a:r>
              <a:rPr lang="en-US" sz="2400" dirty="0">
                <a:solidFill>
                  <a:srgbClr val="0033B3"/>
                </a:solidFill>
              </a:rPr>
              <a:t>throws </a:t>
            </a:r>
            <a:r>
              <a:rPr lang="en-US" sz="2400" err="1">
                <a:solidFill>
                  <a:srgbClr val="000000"/>
                </a:solidFill>
              </a:rPr>
              <a:t>SQLException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80808"/>
                </a:solidFill>
              </a:rPr>
              <a:t>{</a:t>
            </a:r>
            <a:br>
              <a:rPr lang="en-US" sz="2400" dirty="0"/>
            </a:br>
            <a:r>
              <a:rPr lang="en-US" sz="2400" i="1" dirty="0">
                <a:solidFill>
                  <a:srgbClr val="871094"/>
                </a:solidFill>
              </a:rPr>
              <a:t> </a:t>
            </a:r>
            <a:r>
              <a:rPr lang="en-US" sz="2400" i="1" err="1">
                <a:solidFill>
                  <a:srgbClr val="871094"/>
                </a:solidFill>
              </a:rPr>
              <a:t>service</a:t>
            </a:r>
            <a:r>
              <a:rPr lang="en-US" sz="2400" err="1">
                <a:solidFill>
                  <a:srgbClr val="080808"/>
                </a:solidFill>
              </a:rPr>
              <a:t>.supprimer</a:t>
            </a:r>
            <a:r>
              <a:rPr lang="en-US" sz="2400" dirty="0">
                <a:solidFill>
                  <a:srgbClr val="080808"/>
                </a:solidFill>
              </a:rPr>
              <a:t>(</a:t>
            </a:r>
            <a:r>
              <a:rPr lang="en-US" sz="2400" i="1" err="1">
                <a:solidFill>
                  <a:srgbClr val="871094"/>
                </a:solidFill>
              </a:rPr>
              <a:t>idPersonneTest</a:t>
            </a:r>
            <a:r>
              <a:rPr lang="en-US" sz="2400" dirty="0">
                <a:solidFill>
                  <a:srgbClr val="080808"/>
                </a:solidFill>
              </a:rPr>
              <a:t>);</a:t>
            </a:r>
            <a:br>
              <a:rPr lang="en-US" sz="2400" dirty="0"/>
            </a:br>
            <a:r>
              <a:rPr lang="en-US" sz="2400" dirty="0"/>
              <a:t> </a:t>
            </a:r>
            <a:r>
              <a:rPr lang="en-US" sz="2400" dirty="0">
                <a:solidFill>
                  <a:srgbClr val="000000"/>
                </a:solidFill>
              </a:rPr>
              <a:t>List</a:t>
            </a:r>
            <a:r>
              <a:rPr lang="en-US" sz="2400" dirty="0">
                <a:solidFill>
                  <a:srgbClr val="080808"/>
                </a:solidFill>
              </a:rPr>
              <a:t>&lt;</a:t>
            </a:r>
            <a:r>
              <a:rPr lang="en-US" sz="2400" dirty="0">
                <a:solidFill>
                  <a:srgbClr val="000000"/>
                </a:solidFill>
              </a:rPr>
              <a:t>Personne</a:t>
            </a:r>
            <a:r>
              <a:rPr lang="en-US" sz="2400" dirty="0">
                <a:solidFill>
                  <a:srgbClr val="080808"/>
                </a:solidFill>
              </a:rPr>
              <a:t>&gt; </a:t>
            </a:r>
            <a:r>
              <a:rPr lang="en-US" sz="2400" err="1">
                <a:solidFill>
                  <a:srgbClr val="000000"/>
                </a:solidFill>
              </a:rPr>
              <a:t>personnes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80808"/>
                </a:solidFill>
              </a:rPr>
              <a:t>= </a:t>
            </a:r>
            <a:r>
              <a:rPr lang="en-US" sz="2400" i="1" err="1">
                <a:solidFill>
                  <a:srgbClr val="871094"/>
                </a:solidFill>
              </a:rPr>
              <a:t>service</a:t>
            </a:r>
            <a:r>
              <a:rPr lang="en-US" sz="2400" err="1">
                <a:solidFill>
                  <a:srgbClr val="080808"/>
                </a:solidFill>
              </a:rPr>
              <a:t>.afficher</a:t>
            </a:r>
            <a:r>
              <a:rPr lang="en-US" sz="2400" dirty="0">
                <a:solidFill>
                  <a:srgbClr val="080808"/>
                </a:solidFill>
              </a:rPr>
              <a:t>();</a:t>
            </a:r>
            <a:br>
              <a:rPr lang="en-US" sz="2400" dirty="0"/>
            </a:br>
            <a:r>
              <a:rPr lang="en-US" sz="2400" dirty="0">
                <a:solidFill>
                  <a:srgbClr val="0033B3"/>
                </a:solidFill>
              </a:rPr>
              <a:t> </a:t>
            </a:r>
            <a:r>
              <a:rPr lang="en-US" sz="2400" err="1">
                <a:solidFill>
                  <a:srgbClr val="0033B3"/>
                </a:solidFill>
              </a:rPr>
              <a:t>boolean</a:t>
            </a:r>
            <a:r>
              <a:rPr lang="en-US" sz="2400" dirty="0">
                <a:solidFill>
                  <a:srgbClr val="0033B3"/>
                </a:solidFill>
              </a:rPr>
              <a:t> </a:t>
            </a:r>
            <a:r>
              <a:rPr lang="en-US" sz="2400" err="1">
                <a:solidFill>
                  <a:srgbClr val="000000"/>
                </a:solidFill>
              </a:rPr>
              <a:t>existe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80808"/>
                </a:solidFill>
              </a:rPr>
              <a:t>= </a:t>
            </a:r>
            <a:r>
              <a:rPr lang="en-US" sz="2400" err="1">
                <a:solidFill>
                  <a:srgbClr val="000000"/>
                </a:solidFill>
              </a:rPr>
              <a:t>personnes</a:t>
            </a:r>
            <a:r>
              <a:rPr lang="en-US" sz="2400" err="1">
                <a:solidFill>
                  <a:srgbClr val="080808"/>
                </a:solidFill>
              </a:rPr>
              <a:t>.stream</a:t>
            </a:r>
            <a:r>
              <a:rPr lang="en-US" sz="2400" dirty="0">
                <a:solidFill>
                  <a:srgbClr val="080808"/>
                </a:solidFill>
              </a:rPr>
              <a:t>().</a:t>
            </a:r>
            <a:r>
              <a:rPr lang="en-US" sz="2400" err="1">
                <a:solidFill>
                  <a:srgbClr val="080808"/>
                </a:solidFill>
              </a:rPr>
              <a:t>anyMatch</a:t>
            </a:r>
            <a:r>
              <a:rPr lang="en-US" sz="2400" dirty="0">
                <a:solidFill>
                  <a:srgbClr val="080808"/>
                </a:solidFill>
              </a:rPr>
              <a:t>(</a:t>
            </a:r>
            <a:r>
              <a:rPr lang="en-US" sz="2400" dirty="0">
                <a:solidFill>
                  <a:srgbClr val="000000"/>
                </a:solidFill>
              </a:rPr>
              <a:t>p </a:t>
            </a:r>
            <a:r>
              <a:rPr lang="en-US" sz="2400" dirty="0">
                <a:solidFill>
                  <a:srgbClr val="080808"/>
                </a:solidFill>
              </a:rPr>
              <a:t>-&gt; </a:t>
            </a:r>
            <a:r>
              <a:rPr lang="en-US" sz="2400" err="1">
                <a:solidFill>
                  <a:srgbClr val="000000"/>
                </a:solidFill>
              </a:rPr>
              <a:t>p</a:t>
            </a:r>
            <a:r>
              <a:rPr lang="en-US" sz="2400" err="1">
                <a:solidFill>
                  <a:srgbClr val="080808"/>
                </a:solidFill>
              </a:rPr>
              <a:t>.getId</a:t>
            </a:r>
            <a:r>
              <a:rPr lang="en-US" sz="2400" dirty="0">
                <a:solidFill>
                  <a:srgbClr val="080808"/>
                </a:solidFill>
              </a:rPr>
              <a:t>() == </a:t>
            </a:r>
            <a:r>
              <a:rPr lang="en-US" sz="2400" i="1" err="1">
                <a:solidFill>
                  <a:srgbClr val="871094"/>
                </a:solidFill>
              </a:rPr>
              <a:t>idPersonneTest</a:t>
            </a:r>
            <a:r>
              <a:rPr lang="en-US" sz="2400" dirty="0">
                <a:solidFill>
                  <a:srgbClr val="080808"/>
                </a:solidFill>
              </a:rPr>
              <a:t>);</a:t>
            </a:r>
            <a:br>
              <a:rPr lang="en-US" sz="2400" dirty="0"/>
            </a:br>
            <a:r>
              <a:rPr lang="en-US" sz="2400" i="1" dirty="0">
                <a:solidFill>
                  <a:srgbClr val="080808"/>
                </a:solidFill>
              </a:rPr>
              <a:t> assertFalse</a:t>
            </a:r>
            <a:r>
              <a:rPr lang="en-US" sz="2400" dirty="0">
                <a:solidFill>
                  <a:srgbClr val="080808"/>
                </a:solidFill>
              </a:rPr>
              <a:t>(</a:t>
            </a:r>
            <a:r>
              <a:rPr lang="en-US" sz="2400" err="1">
                <a:solidFill>
                  <a:srgbClr val="000000"/>
                </a:solidFill>
              </a:rPr>
              <a:t>existe</a:t>
            </a:r>
            <a:r>
              <a:rPr lang="en-US" sz="2400" dirty="0">
                <a:solidFill>
                  <a:srgbClr val="080808"/>
                </a:solidFill>
              </a:rPr>
              <a:t>);</a:t>
            </a:r>
            <a:br>
              <a:rPr lang="en-US" sz="2400" dirty="0"/>
            </a:br>
            <a:r>
              <a:rPr lang="en-US" sz="2400" dirty="0">
                <a:solidFill>
                  <a:srgbClr val="080808"/>
                </a:solidFill>
              </a:rPr>
              <a:t>}</a:t>
            </a:r>
            <a:endParaRPr lang="en-US" sz="24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68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6332ba2994_0_107"/>
          <p:cNvSpPr txBox="1">
            <a:spLocks noGrp="1"/>
          </p:cNvSpPr>
          <p:nvPr>
            <p:ph type="title"/>
          </p:nvPr>
        </p:nvSpPr>
        <p:spPr>
          <a:xfrm>
            <a:off x="997424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fr-FR" b="1" dirty="0"/>
              <a:t>  Nettoyage automatique </a:t>
            </a:r>
            <a:br>
              <a:rPr lang="fr-FR" b="1" dirty="0"/>
            </a:br>
            <a:r>
              <a:rPr lang="fr-FR" b="1" dirty="0"/>
              <a:t>  après chaque test</a:t>
            </a:r>
            <a:endParaRPr lang="en-US" b="1"/>
          </a:p>
        </p:txBody>
      </p:sp>
      <p:sp>
        <p:nvSpPr>
          <p:cNvPr id="240" name="Google Shape;240;g6332ba2994_0_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B0450-23D7-ACA9-5E97-F3A517EDF3CB}"/>
              </a:ext>
            </a:extLst>
          </p:cNvPr>
          <p:cNvSpPr txBox="1"/>
          <p:nvPr/>
        </p:nvSpPr>
        <p:spPr>
          <a:xfrm>
            <a:off x="197188" y="1840606"/>
            <a:ext cx="7934284" cy="418576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9E880D"/>
                </a:solidFill>
              </a:rPr>
              <a:t>@AfterEach</a:t>
            </a:r>
            <a:br>
              <a:rPr lang="en-US" sz="2400" dirty="0"/>
            </a:br>
            <a:r>
              <a:rPr lang="en-US" sz="2400" dirty="0">
                <a:solidFill>
                  <a:srgbClr val="0033B3"/>
                </a:solidFill>
              </a:rPr>
              <a:t>void </a:t>
            </a:r>
            <a:r>
              <a:rPr lang="en-US" sz="2400" err="1">
                <a:solidFill>
                  <a:srgbClr val="00627A"/>
                </a:solidFill>
              </a:rPr>
              <a:t>cleanUp</a:t>
            </a:r>
            <a:r>
              <a:rPr lang="en-US" sz="2400" dirty="0">
                <a:solidFill>
                  <a:srgbClr val="080808"/>
                </a:solidFill>
              </a:rPr>
              <a:t>() </a:t>
            </a:r>
            <a:r>
              <a:rPr lang="en-US" sz="2400" dirty="0">
                <a:solidFill>
                  <a:srgbClr val="0033B3"/>
                </a:solidFill>
              </a:rPr>
              <a:t>throws </a:t>
            </a:r>
            <a:r>
              <a:rPr lang="en-US" sz="2400" err="1">
                <a:solidFill>
                  <a:srgbClr val="000000"/>
                </a:solidFill>
              </a:rPr>
              <a:t>SQLException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80808"/>
                </a:solidFill>
              </a:rPr>
              <a:t>{</a:t>
            </a:r>
            <a:br>
              <a:rPr lang="en-US" sz="2400" dirty="0"/>
            </a:br>
            <a:r>
              <a:rPr lang="en-US" sz="2400" dirty="0"/>
              <a:t> </a:t>
            </a:r>
            <a:r>
              <a:rPr lang="en-US" sz="2400" dirty="0">
                <a:solidFill>
                  <a:srgbClr val="000000"/>
                </a:solidFill>
              </a:rPr>
              <a:t>List</a:t>
            </a:r>
            <a:r>
              <a:rPr lang="en-US" sz="2400" dirty="0">
                <a:solidFill>
                  <a:srgbClr val="080808"/>
                </a:solidFill>
              </a:rPr>
              <a:t>&lt;</a:t>
            </a:r>
            <a:r>
              <a:rPr lang="en-US" sz="2400" dirty="0">
                <a:solidFill>
                  <a:srgbClr val="000000"/>
                </a:solidFill>
              </a:rPr>
              <a:t>Personne</a:t>
            </a:r>
            <a:r>
              <a:rPr lang="en-US" sz="2400" dirty="0">
                <a:solidFill>
                  <a:srgbClr val="080808"/>
                </a:solidFill>
              </a:rPr>
              <a:t>&gt; </a:t>
            </a:r>
            <a:r>
              <a:rPr lang="en-US" sz="2400" err="1">
                <a:solidFill>
                  <a:srgbClr val="000000"/>
                </a:solidFill>
              </a:rPr>
              <a:t>personnes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80808"/>
                </a:solidFill>
              </a:rPr>
              <a:t>= </a:t>
            </a:r>
            <a:r>
              <a:rPr lang="en-US" sz="2400" i="1" err="1">
                <a:solidFill>
                  <a:srgbClr val="871094"/>
                </a:solidFill>
              </a:rPr>
              <a:t>service</a:t>
            </a:r>
            <a:r>
              <a:rPr lang="en-US" sz="2400" err="1">
                <a:solidFill>
                  <a:srgbClr val="080808"/>
                </a:solidFill>
              </a:rPr>
              <a:t>.afficher</a:t>
            </a:r>
            <a:r>
              <a:rPr lang="en-US" sz="2400" dirty="0">
                <a:solidFill>
                  <a:srgbClr val="080808"/>
                </a:solidFill>
              </a:rPr>
              <a:t>();</a:t>
            </a:r>
            <a:br>
              <a:rPr lang="en-US" sz="2400" dirty="0"/>
            </a:br>
            <a:r>
              <a:rPr lang="en-US" sz="2400" dirty="0">
                <a:solidFill>
                  <a:srgbClr val="0033B3"/>
                </a:solidFill>
              </a:rPr>
              <a:t> if </a:t>
            </a:r>
            <a:r>
              <a:rPr lang="en-US" sz="2400" dirty="0">
                <a:solidFill>
                  <a:srgbClr val="080808"/>
                </a:solidFill>
              </a:rPr>
              <a:t>(!</a:t>
            </a:r>
            <a:r>
              <a:rPr lang="en-US" sz="2400" err="1">
                <a:solidFill>
                  <a:srgbClr val="000000"/>
                </a:solidFill>
              </a:rPr>
              <a:t>personnes</a:t>
            </a:r>
            <a:r>
              <a:rPr lang="en-US" sz="2400" err="1">
                <a:solidFill>
                  <a:srgbClr val="080808"/>
                </a:solidFill>
              </a:rPr>
              <a:t>.isEmpty</a:t>
            </a:r>
            <a:r>
              <a:rPr lang="en-US" sz="2400" dirty="0">
                <a:solidFill>
                  <a:srgbClr val="080808"/>
                </a:solidFill>
              </a:rPr>
              <a:t>()) {</a:t>
            </a:r>
            <a:br>
              <a:rPr lang="en-US" sz="2400" dirty="0"/>
            </a:br>
            <a:r>
              <a:rPr lang="en-US" sz="2400" dirty="0"/>
              <a:t> </a:t>
            </a:r>
            <a:r>
              <a:rPr lang="en-US" sz="2400" dirty="0">
                <a:solidFill>
                  <a:srgbClr val="000000"/>
                </a:solidFill>
              </a:rPr>
              <a:t>Personne last </a:t>
            </a:r>
            <a:r>
              <a:rPr lang="en-US" sz="2400" dirty="0">
                <a:solidFill>
                  <a:srgbClr val="080808"/>
                </a:solidFill>
              </a:rPr>
              <a:t>= </a:t>
            </a:r>
            <a:r>
              <a:rPr lang="en-US" sz="2400" err="1">
                <a:solidFill>
                  <a:srgbClr val="000000"/>
                </a:solidFill>
              </a:rPr>
              <a:t>personnes</a:t>
            </a:r>
            <a:r>
              <a:rPr lang="en-US" sz="2400" err="1">
                <a:solidFill>
                  <a:srgbClr val="080808"/>
                </a:solidFill>
              </a:rPr>
              <a:t>.get</a:t>
            </a:r>
            <a:r>
              <a:rPr lang="en-US" sz="2400" dirty="0">
                <a:solidFill>
                  <a:srgbClr val="080808"/>
                </a:solidFill>
              </a:rPr>
              <a:t>(</a:t>
            </a:r>
            <a:r>
              <a:rPr lang="en-US" sz="2400" err="1">
                <a:solidFill>
                  <a:srgbClr val="000000"/>
                </a:solidFill>
              </a:rPr>
              <a:t>personnes</a:t>
            </a:r>
            <a:r>
              <a:rPr lang="en-US" sz="2400" err="1">
                <a:solidFill>
                  <a:srgbClr val="080808"/>
                </a:solidFill>
              </a:rPr>
              <a:t>.size</a:t>
            </a:r>
            <a:r>
              <a:rPr lang="en-US" sz="2400" dirty="0">
                <a:solidFill>
                  <a:srgbClr val="080808"/>
                </a:solidFill>
              </a:rPr>
              <a:t>() - </a:t>
            </a:r>
            <a:r>
              <a:rPr lang="en-US" sz="2400" dirty="0">
                <a:solidFill>
                  <a:srgbClr val="1750EB"/>
                </a:solidFill>
              </a:rPr>
              <a:t>1</a:t>
            </a:r>
            <a:r>
              <a:rPr lang="en-US" sz="2400" dirty="0">
                <a:solidFill>
                  <a:srgbClr val="080808"/>
                </a:solidFill>
              </a:rPr>
              <a:t>);</a:t>
            </a:r>
            <a:br>
              <a:rPr lang="en-US" sz="2400" dirty="0"/>
            </a:br>
            <a:r>
              <a:rPr lang="en-US" sz="2400" i="1" dirty="0">
                <a:solidFill>
                  <a:srgbClr val="871094"/>
                </a:solidFill>
              </a:rPr>
              <a:t> </a:t>
            </a:r>
            <a:r>
              <a:rPr lang="en-US" sz="2400" i="1" err="1">
                <a:solidFill>
                  <a:srgbClr val="871094"/>
                </a:solidFill>
              </a:rPr>
              <a:t>service</a:t>
            </a:r>
            <a:r>
              <a:rPr lang="en-US" sz="2400" err="1">
                <a:solidFill>
                  <a:srgbClr val="080808"/>
                </a:solidFill>
              </a:rPr>
              <a:t>.supprimer</a:t>
            </a:r>
            <a:r>
              <a:rPr lang="en-US" sz="2400" dirty="0">
                <a:solidFill>
                  <a:srgbClr val="080808"/>
                </a:solidFill>
              </a:rPr>
              <a:t>(</a:t>
            </a:r>
            <a:r>
              <a:rPr lang="en-US" sz="2400" err="1">
                <a:solidFill>
                  <a:srgbClr val="000000"/>
                </a:solidFill>
              </a:rPr>
              <a:t>last</a:t>
            </a:r>
            <a:r>
              <a:rPr lang="en-US" sz="2400" err="1">
                <a:solidFill>
                  <a:srgbClr val="080808"/>
                </a:solidFill>
              </a:rPr>
              <a:t>.getId</a:t>
            </a:r>
            <a:r>
              <a:rPr lang="en-US" sz="2400" dirty="0">
                <a:solidFill>
                  <a:srgbClr val="080808"/>
                </a:solidFill>
              </a:rPr>
              <a:t>());</a:t>
            </a:r>
            <a:br>
              <a:rPr lang="en-US" sz="2400" dirty="0"/>
            </a:br>
            <a:r>
              <a:rPr lang="en-US" sz="2400" dirty="0">
                <a:solidFill>
                  <a:srgbClr val="080808"/>
                </a:solidFill>
              </a:rPr>
              <a:t>} }</a:t>
            </a:r>
            <a:endParaRPr lang="en-US" sz="240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8E79D-C190-D157-5CD9-FFFA98F1EDBD}"/>
              </a:ext>
            </a:extLst>
          </p:cNvPr>
          <p:cNvSpPr txBox="1"/>
          <p:nvPr/>
        </p:nvSpPr>
        <p:spPr>
          <a:xfrm>
            <a:off x="8280850" y="2000063"/>
            <a:ext cx="370368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</a:rPr>
              <a:t>Après </a:t>
            </a:r>
            <a:r>
              <a:rPr lang="en-US" sz="2400" err="1">
                <a:latin typeface="Calibri"/>
              </a:rPr>
              <a:t>chaque</a:t>
            </a:r>
            <a:r>
              <a:rPr lang="en-US" sz="2400" dirty="0">
                <a:latin typeface="Calibri"/>
              </a:rPr>
              <a:t> test, la base de données est </a:t>
            </a:r>
            <a:r>
              <a:rPr lang="en-US" sz="2400" err="1">
                <a:latin typeface="Calibri"/>
              </a:rPr>
              <a:t>nettoyée</a:t>
            </a:r>
            <a:r>
              <a:rPr lang="en-US" sz="2400" dirty="0">
                <a:latin typeface="Calibri"/>
              </a:rPr>
              <a:t> </a:t>
            </a:r>
            <a:r>
              <a:rPr lang="en-US" sz="2400" err="1">
                <a:latin typeface="Calibri"/>
              </a:rPr>
              <a:t>automatiquement</a:t>
            </a:r>
            <a:r>
              <a:rPr lang="en-US" sz="2400" dirty="0">
                <a:latin typeface="Calibri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BD178-7200-EE0A-A936-FDB264C20100}"/>
              </a:ext>
            </a:extLst>
          </p:cNvPr>
          <p:cNvSpPr txBox="1"/>
          <p:nvPr/>
        </p:nvSpPr>
        <p:spPr>
          <a:xfrm>
            <a:off x="3914124" y="6153392"/>
            <a:ext cx="51354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Un bon test ne laisse </a:t>
            </a:r>
            <a:r>
              <a:rPr lang="en-US" sz="2000" b="1" err="1">
                <a:solidFill>
                  <a:srgbClr val="FF0000"/>
                </a:solidFill>
              </a:rPr>
              <a:t>aucune</a:t>
            </a:r>
            <a:r>
              <a:rPr lang="en-US" sz="2000" b="1" dirty="0">
                <a:solidFill>
                  <a:srgbClr val="FF0000"/>
                </a:solidFill>
              </a:rPr>
              <a:t> trace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>
            <a:spLocks noGrp="1"/>
          </p:cNvSpPr>
          <p:nvPr>
            <p:ph type="title"/>
          </p:nvPr>
        </p:nvSpPr>
        <p:spPr>
          <a:xfrm>
            <a:off x="838200" y="1212589"/>
            <a:ext cx="10515600" cy="146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/>
              <a:t>Merci pour votre attention</a:t>
            </a:r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11EEA8-6218-AA98-A35C-94269191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719" y="3017891"/>
            <a:ext cx="7052707" cy="2430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̀me1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Thème1</vt:lpstr>
      <vt:lpstr>  Workshop Test unitaire </vt:lpstr>
      <vt:lpstr>PowerPoint Presentation</vt:lpstr>
      <vt:lpstr>   </vt:lpstr>
      <vt:lpstr>Rôle et importance des tests unitaires  </vt:lpstr>
      <vt:lpstr>Étapes pour réussir un test unitaire </vt:lpstr>
      <vt:lpstr>PowerPoint Presentation</vt:lpstr>
      <vt:lpstr>  Outil utilisé : JUnit 5</vt:lpstr>
      <vt:lpstr>Dépendance JUnit dans le pom.xml</vt:lpstr>
      <vt:lpstr>  Structure d’un projet Maven avec tests</vt:lpstr>
      <vt:lpstr>Classe de test : PersonneServicesTest.java</vt:lpstr>
      <vt:lpstr>Déclaration du package et imports JUnit</vt:lpstr>
      <vt:lpstr>  Initialisation du service (@BeforeAll)</vt:lpstr>
      <vt:lpstr>Test 1 : Ajouter une personne</vt:lpstr>
      <vt:lpstr>Test 1 : Ajouter une personne</vt:lpstr>
      <vt:lpstr>Test 2 : Modifier une personne</vt:lpstr>
      <vt:lpstr>Test 2 : Modifier une personne</vt:lpstr>
      <vt:lpstr>  Test 3 : Supprimer une personne</vt:lpstr>
      <vt:lpstr>  Nettoyage automatique    après chaque test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 : Connexion à la base de données - JDBC</dc:title>
  <dc:creator>Godric</dc:creator>
  <cp:revision>558</cp:revision>
  <dcterms:created xsi:type="dcterms:W3CDTF">2014-06-23T15:10:19Z</dcterms:created>
  <dcterms:modified xsi:type="dcterms:W3CDTF">2026-02-04T16:15:55Z</dcterms:modified>
</cp:coreProperties>
</file>